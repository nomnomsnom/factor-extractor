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Spending</c:v>
                </c:pt>
              </c:strCache>
            </c:strRef>
          </c:tx>
          <c:spPr>
            <a:solidFill>
              <a:srgbClr val="8A2A2A"/>
            </a:solidFill>
            <a:effectLst/>
          </c:spPr>
          <c:invertIfNegative val="0"/>
          <c:dLbls>
            <c:numFmt formatCode="0.0" sourceLinked="0"/>
            <c:txPr>
              <a:bodyPr/>
              <a:lstStyle/>
              <a:p>
                <a:pPr>
                  <a:defRPr b="0" i="0" strike="noStrike" sz="1200" u="none">
                    <a:solidFill>
                      <a:srgbClr val="1C1C1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2013</c:v>
                  </c:pt>
                  <c:pt idx="1">
                    <c:v>2018</c:v>
                  </c:pt>
                  <c:pt idx="2">
                    <c:v>2023</c:v>
                  </c:pt>
                </c:lvl>
              </c:multiLvlStrCache>
            </c:multiLvlStrRef>
          </c:cat>
          <c:val>
            <c:numRef>
              <c:f>Sheet1!$B$2:$B$4</c:f>
              <c:numCache>
                <c:formatCode>General</c:formatCode>
                <c:ptCount val="3"/>
                <c:pt idx="0">
                  <c:v>1.1</c:v>
                </c:pt>
                <c:pt idx="1">
                  <c:v>1.4</c:v>
                </c:pt>
                <c:pt idx="2">
                  <c:v>1.8</c:v>
                </c:pt>
              </c:numCache>
            </c:numRef>
          </c:val>
        </c:ser>
        <c:dLbls>
          <c:numFmt formatCode="0.0" sourceLinked="0"/>
          <c:txPr>
            <a:bodyPr/>
            <a:lstStyle/>
            <a:p>
              <a:pPr>
                <a:defRPr b="0" i="0" strike="noStrike" sz="1200" u="none">
                  <a:solidFill>
                    <a:srgbClr val="1C1C1E"/>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4E4E55"/>
                </a:solidFill>
                <a:latin typeface="Calibri"/>
              </a:defRPr>
            </a:pPr>
            <a:endParaRPr lang="en-US"/>
          </a:p>
        </c:txPr>
        <c:crossAx val="2094734552"/>
        <c:crosses val="autoZero"/>
        <c:auto val="1"/>
        <c:lblAlgn val="ctr"/>
        <c:noMultiLvlLbl val="1"/>
      </c:catAx>
      <c:valAx>
        <c:axId val="2094734552"/>
        <c:scaling>
          <c:orientation val="minMax"/>
          <c:max val="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a short introduction to Singapore's tuition culture, which is often the first thing visiting educators ask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scale first. In 2023, households in Singapore spent 1.8 billion dollars on private tuition, up from 1.4 billion in 2018 and 1.1 billion in 2013. Average monthly spending per household is about 105 dollars, and the top income quintile spends roughly four times what the bottom quintile does. There are more tuition and enrichment centres than there are schools.
Three points explain the pattern better than the numbers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function of tuition. In many systems, supplementary lessons target students who are behind. In Singapore a large share of tuition students are already performing well, and lessons are often used to work ahead of the school syllabus. Demand therefore does not fall when results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the historical basis. Singapore is small and has no natural resources, and education was deliberately positioned as the main mechanism of social mobility. In the early decades that link between examinations and employment was direct and visible. The expectation persisted after the economic conditions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the gap between policy and practice. Mid-year examinations have been removed at all levels. The PSLE now reports achievement in wide bands rather than exact aggregate scores. Top national scorers are no longer publicised. Tuition expenditure has risen across the same period. One reading is that reducing visible differentiation in the system pushes families to secure an advantage privately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is mainly one of time rather than outcomes. Attainment is high, but out-of-school hours are heavily committed, and students encounter academic ranking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 question, and the one worth comparing across systems, is what keeps this dynamic from forming elsewhere. The answer appears to lie less in examination design than in parental expectations.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2880360"/>
            <a:ext cx="6400800" cy="640080"/>
          </a:xfrm>
          <a:prstGeom prst="rect">
            <a:avLst/>
          </a:prstGeom>
          <a:noFill/>
          <a:ln/>
        </p:spPr>
        <p:txBody>
          <a:bodyPr wrap="square" lIns="0" tIns="0" rIns="0" bIns="0" rtlCol="0" anchor="t"/>
          <a:lstStyle/>
          <a:p>
            <a:pPr indent="0" marL="0">
              <a:buNone/>
            </a:pPr>
            <a:r>
              <a:rPr lang="en-US" sz="4000" dirty="0">
                <a:solidFill>
                  <a:srgbClr val="1C1C1E"/>
                </a:solidFill>
                <a:latin typeface="Cambria" pitchFamily="34" charset="0"/>
                <a:ea typeface="Cambria" pitchFamily="34" charset="-122"/>
                <a:cs typeface="Cambria" pitchFamily="34" charset="-120"/>
              </a:rPr>
              <a:t>Tuition in Singapore</a:t>
            </a:r>
            <a:endParaRPr lang="en-US" sz="4000" dirty="0"/>
          </a:p>
        </p:txBody>
      </p:sp>
      <p:sp>
        <p:nvSpPr>
          <p:cNvPr id="3" name="Text 1"/>
          <p:cNvSpPr txBox="1"/>
          <p:nvPr/>
        </p:nvSpPr>
        <p:spPr>
          <a:xfrm>
            <a:off x="685800" y="3611880"/>
            <a:ext cx="5486400" cy="320040"/>
          </a:xfrm>
          <a:prstGeom prst="rect">
            <a:avLst/>
          </a:prstGeom>
          <a:noFill/>
          <a:ln/>
        </p:spPr>
        <p:txBody>
          <a:bodyPr wrap="square" lIns="0" tIns="0" rIns="0" bIns="0" rtlCol="0" anchor="t"/>
          <a:lstStyle/>
          <a:p>
            <a:pPr indent="0" marL="0">
              <a:buNone/>
            </a:pPr>
            <a:r>
              <a:rPr lang="en-US" sz="1450" dirty="0">
                <a:solidFill>
                  <a:srgbClr val="4E4E55"/>
                </a:solidFill>
                <a:latin typeface="Calibri" pitchFamily="34" charset="0"/>
                <a:ea typeface="Calibri" pitchFamily="34" charset="-122"/>
                <a:cs typeface="Calibri" pitchFamily="34" charset="-120"/>
              </a:rPr>
              <a:t>An introduction for visiting educators</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1325880" cy="274320"/>
          </a:xfrm>
          <a:prstGeom prst="rect">
            <a:avLst/>
          </a:prstGeom>
          <a:noFill/>
          <a:ln/>
        </p:spPr>
        <p:txBody>
          <a:bodyPr wrap="square" lIns="0" tIns="0" rIns="0" bIns="0" rtlCol="0" anchor="t"/>
          <a:lstStyle/>
          <a:p>
            <a:pPr indent="0" marL="0">
              <a:buNone/>
            </a:pPr>
            <a:r>
              <a:rPr lang="en-US" sz="1150" dirty="0">
                <a:solidFill>
                  <a:srgbClr val="82828A"/>
                </a:solidFill>
                <a:latin typeface="Calibri" pitchFamily="34" charset="0"/>
                <a:ea typeface="Calibri" pitchFamily="34" charset="-122"/>
                <a:cs typeface="Calibri" pitchFamily="34" charset="-120"/>
              </a:rPr>
              <a:t>Scale</a:t>
            </a:r>
            <a:endParaRPr lang="en-US" sz="1150" dirty="0"/>
          </a:p>
        </p:txBody>
      </p:sp>
      <p:sp>
        <p:nvSpPr>
          <p:cNvPr id="3" name="Text 1"/>
          <p:cNvSpPr txBox="1"/>
          <p:nvPr/>
        </p:nvSpPr>
        <p:spPr>
          <a:xfrm>
            <a:off x="2240280" y="566928"/>
            <a:ext cx="6217920" cy="502920"/>
          </a:xfrm>
          <a:prstGeom prst="rect">
            <a:avLst/>
          </a:prstGeom>
          <a:noFill/>
          <a:ln/>
        </p:spPr>
        <p:txBody>
          <a:bodyPr wrap="square" lIns="0" tIns="0" rIns="0" bIns="0" rtlCol="0" anchor="t"/>
          <a:lstStyle/>
          <a:p>
            <a:pPr indent="0" marL="0">
              <a:buNone/>
            </a:pPr>
            <a:r>
              <a:rPr lang="en-US" sz="2600" b="1" dirty="0">
                <a:solidFill>
                  <a:srgbClr val="1C1C1E"/>
                </a:solidFill>
                <a:latin typeface="Cambria" pitchFamily="34" charset="0"/>
                <a:ea typeface="Cambria" pitchFamily="34" charset="-122"/>
                <a:cs typeface="Cambria" pitchFamily="34" charset="-120"/>
              </a:rPr>
              <a:t>What households spend</a:t>
            </a:r>
            <a:endParaRPr lang="en-US" sz="2600" dirty="0"/>
          </a:p>
        </p:txBody>
      </p:sp>
      <p:graphicFrame>
        <p:nvGraphicFramePr>
          <p:cNvPr id="4" name="Chart 0" descr=""/>
          <p:cNvGraphicFramePr/>
          <p:nvPr/>
        </p:nvGraphicFramePr>
        <p:xfrm>
          <a:off x="2130552" y="1234440"/>
          <a:ext cx="4114800" cy="23774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2240280" y="3703320"/>
            <a:ext cx="3931920" cy="274320"/>
          </a:xfrm>
          <a:prstGeom prst="rect">
            <a:avLst/>
          </a:prstGeom>
          <a:noFill/>
          <a:ln/>
        </p:spPr>
        <p:txBody>
          <a:bodyPr wrap="square" lIns="0" tIns="0" rIns="0" bIns="0" rtlCol="0" anchor="t"/>
          <a:lstStyle/>
          <a:p>
            <a:pPr indent="0" marL="0">
              <a:buNone/>
            </a:pPr>
            <a:r>
              <a:rPr lang="en-US" sz="1050" dirty="0">
                <a:solidFill>
                  <a:srgbClr val="82828A"/>
                </a:solidFill>
                <a:latin typeface="Calibri" pitchFamily="34" charset="0"/>
                <a:ea typeface="Calibri" pitchFamily="34" charset="-122"/>
                <a:cs typeface="Calibri" pitchFamily="34" charset="-120"/>
              </a:rPr>
              <a:t>Household spending on private tuition, $ billions</a:t>
            </a:r>
            <a:endParaRPr lang="en-US" sz="1050" dirty="0"/>
          </a:p>
        </p:txBody>
      </p:sp>
      <p:sp>
        <p:nvSpPr>
          <p:cNvPr id="6" name="Text 3"/>
          <p:cNvSpPr txBox="1"/>
          <p:nvPr/>
        </p:nvSpPr>
        <p:spPr>
          <a:xfrm>
            <a:off x="6537960" y="1298448"/>
            <a:ext cx="1920240" cy="384048"/>
          </a:xfrm>
          <a:prstGeom prst="rect">
            <a:avLst/>
          </a:prstGeom>
          <a:noFill/>
          <a:ln/>
        </p:spPr>
        <p:txBody>
          <a:bodyPr wrap="square" lIns="0" tIns="0" rIns="0" bIns="0" rtlCol="0" anchor="t"/>
          <a:lstStyle/>
          <a:p>
            <a:pPr indent="0" marL="0">
              <a:buNone/>
            </a:pPr>
            <a:r>
              <a:rPr lang="en-US" sz="2400" dirty="0">
                <a:solidFill>
                  <a:srgbClr val="8A2A2A"/>
                </a:solidFill>
                <a:latin typeface="Cambria" pitchFamily="34" charset="0"/>
                <a:ea typeface="Cambria" pitchFamily="34" charset="-122"/>
                <a:cs typeface="Cambria" pitchFamily="34" charset="-120"/>
              </a:rPr>
              <a:t>$105</a:t>
            </a:r>
            <a:endParaRPr lang="en-US" sz="2400" dirty="0"/>
          </a:p>
        </p:txBody>
      </p:sp>
      <p:sp>
        <p:nvSpPr>
          <p:cNvPr id="7" name="Text 4"/>
          <p:cNvSpPr txBox="1"/>
          <p:nvPr/>
        </p:nvSpPr>
        <p:spPr>
          <a:xfrm>
            <a:off x="6537960" y="1719072"/>
            <a:ext cx="1920240" cy="640080"/>
          </a:xfrm>
          <a:prstGeom prst="rect">
            <a:avLst/>
          </a:prstGeom>
          <a:noFill/>
          <a:ln/>
        </p:spPr>
        <p:txBody>
          <a:bodyPr wrap="square" lIns="0" tIns="0" rIns="0" bIns="0" rtlCol="0" anchor="t"/>
          <a:lstStyle/>
          <a:p>
            <a:pPr indent="0" marL="0">
              <a:lnSpc>
                <a:spcPct val="115000"/>
              </a:lnSpc>
              <a:buNone/>
            </a:pPr>
            <a:r>
              <a:rPr lang="en-US" sz="1100" dirty="0">
                <a:solidFill>
                  <a:srgbClr val="4E4E55"/>
                </a:solidFill>
                <a:latin typeface="Calibri" pitchFamily="34" charset="0"/>
                <a:ea typeface="Calibri" pitchFamily="34" charset="-122"/>
                <a:cs typeface="Calibri" pitchFamily="34" charset="-120"/>
              </a:rPr>
              <a:t>average monthly spending per household</a:t>
            </a:r>
            <a:endParaRPr lang="en-US" sz="1100" dirty="0"/>
          </a:p>
        </p:txBody>
      </p:sp>
      <p:sp>
        <p:nvSpPr>
          <p:cNvPr id="8" name="Text 5"/>
          <p:cNvSpPr txBox="1"/>
          <p:nvPr/>
        </p:nvSpPr>
        <p:spPr>
          <a:xfrm>
            <a:off x="6537960" y="2532888"/>
            <a:ext cx="1920240" cy="384048"/>
          </a:xfrm>
          <a:prstGeom prst="rect">
            <a:avLst/>
          </a:prstGeom>
          <a:noFill/>
          <a:ln/>
        </p:spPr>
        <p:txBody>
          <a:bodyPr wrap="square" lIns="0" tIns="0" rIns="0" bIns="0" rtlCol="0" anchor="t"/>
          <a:lstStyle/>
          <a:p>
            <a:pPr indent="0" marL="0">
              <a:buNone/>
            </a:pPr>
            <a:r>
              <a:rPr lang="en-US" sz="2400" dirty="0">
                <a:solidFill>
                  <a:srgbClr val="8A2A2A"/>
                </a:solidFill>
                <a:latin typeface="Cambria" pitchFamily="34" charset="0"/>
                <a:ea typeface="Cambria" pitchFamily="34" charset="-122"/>
                <a:cs typeface="Cambria" pitchFamily="34" charset="-120"/>
              </a:rPr>
              <a:t>4×</a:t>
            </a:r>
            <a:endParaRPr lang="en-US" sz="2400" dirty="0"/>
          </a:p>
        </p:txBody>
      </p:sp>
      <p:sp>
        <p:nvSpPr>
          <p:cNvPr id="9" name="Text 6"/>
          <p:cNvSpPr txBox="1"/>
          <p:nvPr/>
        </p:nvSpPr>
        <p:spPr>
          <a:xfrm>
            <a:off x="6537960" y="2953512"/>
            <a:ext cx="1920240" cy="640080"/>
          </a:xfrm>
          <a:prstGeom prst="rect">
            <a:avLst/>
          </a:prstGeom>
          <a:noFill/>
          <a:ln/>
        </p:spPr>
        <p:txBody>
          <a:bodyPr wrap="square" lIns="0" tIns="0" rIns="0" bIns="0" rtlCol="0" anchor="t"/>
          <a:lstStyle/>
          <a:p>
            <a:pPr indent="0" marL="0">
              <a:lnSpc>
                <a:spcPct val="115000"/>
              </a:lnSpc>
              <a:buNone/>
            </a:pPr>
            <a:r>
              <a:rPr lang="en-US" sz="1100" dirty="0">
                <a:solidFill>
                  <a:srgbClr val="4E4E55"/>
                </a:solidFill>
                <a:latin typeface="Calibri" pitchFamily="34" charset="0"/>
                <a:ea typeface="Calibri" pitchFamily="34" charset="-122"/>
                <a:cs typeface="Calibri" pitchFamily="34" charset="-120"/>
              </a:rPr>
              <a:t>what the top income quintile spends, relative to the bottom</a:t>
            </a:r>
            <a:endParaRPr lang="en-US" sz="1100" dirty="0"/>
          </a:p>
        </p:txBody>
      </p:sp>
      <p:sp>
        <p:nvSpPr>
          <p:cNvPr id="10" name="Text 7"/>
          <p:cNvSpPr txBox="1"/>
          <p:nvPr/>
        </p:nvSpPr>
        <p:spPr>
          <a:xfrm>
            <a:off x="6537960" y="3767328"/>
            <a:ext cx="1920240" cy="731520"/>
          </a:xfrm>
          <a:prstGeom prst="rect">
            <a:avLst/>
          </a:prstGeom>
          <a:noFill/>
          <a:ln/>
        </p:spPr>
        <p:txBody>
          <a:bodyPr wrap="square" lIns="0" tIns="0" rIns="0" bIns="0" rtlCol="0" anchor="t"/>
          <a:lstStyle/>
          <a:p>
            <a:pPr indent="0" marL="0">
              <a:lnSpc>
                <a:spcPct val="115000"/>
              </a:lnSpc>
              <a:buNone/>
            </a:pPr>
            <a:r>
              <a:rPr lang="en-US" sz="1100" dirty="0">
                <a:solidFill>
                  <a:srgbClr val="1C1C1E"/>
                </a:solidFill>
                <a:latin typeface="Calibri" pitchFamily="34" charset="0"/>
                <a:ea typeface="Calibri" pitchFamily="34" charset="-122"/>
                <a:cs typeface="Calibri" pitchFamily="34" charset="-120"/>
              </a:rPr>
              <a:t>There are more tuition and enrichment centres than there are schools.</a:t>
            </a:r>
            <a:endParaRPr lang="en-US" sz="1100" dirty="0"/>
          </a:p>
        </p:txBody>
      </p:sp>
      <p:sp>
        <p:nvSpPr>
          <p:cNvPr id="11" name="Text 8"/>
          <p:cNvSpPr txBox="1"/>
          <p:nvPr/>
        </p:nvSpPr>
        <p:spPr>
          <a:xfrm>
            <a:off x="7543800" y="4572000"/>
            <a:ext cx="914400" cy="228600"/>
          </a:xfrm>
          <a:prstGeom prst="rect">
            <a:avLst/>
          </a:prstGeom>
          <a:noFill/>
          <a:ln/>
        </p:spPr>
        <p:txBody>
          <a:bodyPr wrap="square" lIns="0" tIns="0" rIns="0" bIns="0" rtlCol="0" anchor="ctr"/>
          <a:lstStyle/>
          <a:p>
            <a:pPr algn="r" indent="0" marL="0">
              <a:buNone/>
            </a:pPr>
            <a:r>
              <a:rPr lang="en-US" sz="950" dirty="0">
                <a:solidFill>
                  <a:srgbClr val="82828A"/>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1325880" cy="274320"/>
          </a:xfrm>
          <a:prstGeom prst="rect">
            <a:avLst/>
          </a:prstGeom>
          <a:noFill/>
          <a:ln/>
        </p:spPr>
        <p:txBody>
          <a:bodyPr wrap="square" lIns="0" tIns="0" rIns="0" bIns="0" rtlCol="0" anchor="t"/>
          <a:lstStyle/>
          <a:p>
            <a:pPr indent="0" marL="0">
              <a:buNone/>
            </a:pPr>
            <a:r>
              <a:rPr lang="en-US" sz="1150" dirty="0">
                <a:solidFill>
                  <a:srgbClr val="82828A"/>
                </a:solidFill>
                <a:latin typeface="Calibri" pitchFamily="34" charset="0"/>
                <a:ea typeface="Calibri" pitchFamily="34" charset="-122"/>
                <a:cs typeface="Calibri" pitchFamily="34" charset="-120"/>
              </a:rPr>
              <a:t>First</a:t>
            </a:r>
            <a:endParaRPr lang="en-US" sz="1150" dirty="0"/>
          </a:p>
        </p:txBody>
      </p:sp>
      <p:sp>
        <p:nvSpPr>
          <p:cNvPr id="3" name="Text 1"/>
          <p:cNvSpPr txBox="1"/>
          <p:nvPr/>
        </p:nvSpPr>
        <p:spPr>
          <a:xfrm>
            <a:off x="2240280" y="566928"/>
            <a:ext cx="6217920" cy="502920"/>
          </a:xfrm>
          <a:prstGeom prst="rect">
            <a:avLst/>
          </a:prstGeom>
          <a:noFill/>
          <a:ln/>
        </p:spPr>
        <p:txBody>
          <a:bodyPr wrap="square" lIns="0" tIns="0" rIns="0" bIns="0" rtlCol="0" anchor="t"/>
          <a:lstStyle/>
          <a:p>
            <a:pPr indent="0" marL="0">
              <a:buNone/>
            </a:pPr>
            <a:r>
              <a:rPr lang="en-US" sz="2600" b="1" dirty="0">
                <a:solidFill>
                  <a:srgbClr val="1C1C1E"/>
                </a:solidFill>
                <a:latin typeface="Cambria" pitchFamily="34" charset="0"/>
                <a:ea typeface="Cambria" pitchFamily="34" charset="-122"/>
                <a:cs typeface="Cambria" pitchFamily="34" charset="-120"/>
              </a:rPr>
              <a:t>What tuition is used for</a:t>
            </a:r>
            <a:endParaRPr lang="en-US" sz="2600" dirty="0"/>
          </a:p>
        </p:txBody>
      </p:sp>
      <p:sp>
        <p:nvSpPr>
          <p:cNvPr id="4" name="Text 2"/>
          <p:cNvSpPr txBox="1"/>
          <p:nvPr/>
        </p:nvSpPr>
        <p:spPr>
          <a:xfrm>
            <a:off x="2240280" y="1325880"/>
            <a:ext cx="2880360" cy="274320"/>
          </a:xfrm>
          <a:prstGeom prst="rect">
            <a:avLst/>
          </a:prstGeom>
          <a:noFill/>
          <a:ln/>
        </p:spPr>
        <p:txBody>
          <a:bodyPr wrap="square" lIns="0" tIns="0" rIns="0" bIns="0" rtlCol="0" anchor="t"/>
          <a:lstStyle/>
          <a:p>
            <a:pPr indent="0" marL="0">
              <a:buNone/>
            </a:pPr>
            <a:r>
              <a:rPr lang="en-US" sz="1150" dirty="0">
                <a:solidFill>
                  <a:srgbClr val="82828A"/>
                </a:solidFill>
                <a:latin typeface="Calibri" pitchFamily="34" charset="0"/>
                <a:ea typeface="Calibri" pitchFamily="34" charset="-122"/>
                <a:cs typeface="Calibri" pitchFamily="34" charset="-120"/>
              </a:rPr>
              <a:t>In many systems</a:t>
            </a:r>
            <a:endParaRPr lang="en-US" sz="1150" dirty="0"/>
          </a:p>
        </p:txBody>
      </p:sp>
      <p:sp>
        <p:nvSpPr>
          <p:cNvPr id="5" name="Text 3"/>
          <p:cNvSpPr txBox="1"/>
          <p:nvPr/>
        </p:nvSpPr>
        <p:spPr>
          <a:xfrm>
            <a:off x="2240280" y="1645920"/>
            <a:ext cx="2880360" cy="1371600"/>
          </a:xfrm>
          <a:prstGeom prst="rect">
            <a:avLst/>
          </a:prstGeom>
          <a:noFill/>
          <a:ln/>
        </p:spPr>
        <p:txBody>
          <a:bodyPr wrap="square" lIns="0" tIns="0" rIns="0" bIns="0" rtlCol="0" anchor="t"/>
          <a:lstStyle/>
          <a:p>
            <a:pPr indent="0" marL="0">
              <a:lnSpc>
                <a:spcPct val="125000"/>
              </a:lnSpc>
              <a:buNone/>
            </a:pPr>
            <a:r>
              <a:rPr lang="en-US" sz="1400" dirty="0">
                <a:solidFill>
                  <a:srgbClr val="1C1C1E"/>
                </a:solidFill>
                <a:latin typeface="Calibri" pitchFamily="34" charset="0"/>
                <a:ea typeface="Calibri" pitchFamily="34" charset="-122"/>
                <a:cs typeface="Calibri" pitchFamily="34" charset="-120"/>
              </a:rPr>
              <a:t>Supplementary lessons target the students who are behind. Demand falls as results improve.</a:t>
            </a:r>
            <a:endParaRPr lang="en-US" sz="1400" dirty="0"/>
          </a:p>
        </p:txBody>
      </p:sp>
      <p:sp>
        <p:nvSpPr>
          <p:cNvPr id="6" name="Text 4"/>
          <p:cNvSpPr txBox="1"/>
          <p:nvPr/>
        </p:nvSpPr>
        <p:spPr>
          <a:xfrm>
            <a:off x="5577840" y="1325880"/>
            <a:ext cx="2880360" cy="274320"/>
          </a:xfrm>
          <a:prstGeom prst="rect">
            <a:avLst/>
          </a:prstGeom>
          <a:noFill/>
          <a:ln/>
        </p:spPr>
        <p:txBody>
          <a:bodyPr wrap="square" lIns="0" tIns="0" rIns="0" bIns="0" rtlCol="0" anchor="t"/>
          <a:lstStyle/>
          <a:p>
            <a:pPr indent="0" marL="0">
              <a:buNone/>
            </a:pPr>
            <a:r>
              <a:rPr lang="en-US" sz="1150" dirty="0">
                <a:solidFill>
                  <a:srgbClr val="82828A"/>
                </a:solidFill>
                <a:latin typeface="Calibri" pitchFamily="34" charset="0"/>
                <a:ea typeface="Calibri" pitchFamily="34" charset="-122"/>
                <a:cs typeface="Calibri" pitchFamily="34" charset="-120"/>
              </a:rPr>
              <a:t>In Singapore</a:t>
            </a:r>
            <a:endParaRPr lang="en-US" sz="1150" dirty="0"/>
          </a:p>
        </p:txBody>
      </p:sp>
      <p:sp>
        <p:nvSpPr>
          <p:cNvPr id="7" name="Text 5"/>
          <p:cNvSpPr txBox="1"/>
          <p:nvPr/>
        </p:nvSpPr>
        <p:spPr>
          <a:xfrm>
            <a:off x="5577840" y="1645920"/>
            <a:ext cx="2880360" cy="1371600"/>
          </a:xfrm>
          <a:prstGeom prst="rect">
            <a:avLst/>
          </a:prstGeom>
          <a:noFill/>
          <a:ln/>
        </p:spPr>
        <p:txBody>
          <a:bodyPr wrap="square" lIns="0" tIns="0" rIns="0" bIns="0" rtlCol="0" anchor="t"/>
          <a:lstStyle/>
          <a:p>
            <a:pPr indent="0" marL="0">
              <a:lnSpc>
                <a:spcPct val="125000"/>
              </a:lnSpc>
              <a:buNone/>
            </a:pPr>
            <a:r>
              <a:rPr lang="en-US" sz="1400" dirty="0">
                <a:solidFill>
                  <a:srgbClr val="1C1C1E"/>
                </a:solidFill>
                <a:latin typeface="Calibri" pitchFamily="34" charset="0"/>
                <a:ea typeface="Calibri" pitchFamily="34" charset="-122"/>
                <a:cs typeface="Calibri" pitchFamily="34" charset="-120"/>
              </a:rPr>
              <a:t>A large share of tuition students are already performing well, and lessons are often used to work ahead of the school syllabus.</a:t>
            </a:r>
            <a:endParaRPr lang="en-US" sz="1400" dirty="0"/>
          </a:p>
        </p:txBody>
      </p:sp>
      <p:sp>
        <p:nvSpPr>
          <p:cNvPr id="8" name="Text 6"/>
          <p:cNvSpPr txBox="1"/>
          <p:nvPr/>
        </p:nvSpPr>
        <p:spPr>
          <a:xfrm>
            <a:off x="2240280" y="3429000"/>
            <a:ext cx="5943600" cy="502920"/>
          </a:xfrm>
          <a:prstGeom prst="rect">
            <a:avLst/>
          </a:prstGeom>
          <a:noFill/>
          <a:ln/>
        </p:spPr>
        <p:txBody>
          <a:bodyPr wrap="square" lIns="0" tIns="0" rIns="0" bIns="0" rtlCol="0" anchor="t"/>
          <a:lstStyle/>
          <a:p>
            <a:pPr indent="0" marL="0">
              <a:lnSpc>
                <a:spcPct val="120000"/>
              </a:lnSpc>
              <a:buNone/>
            </a:pPr>
            <a:r>
              <a:rPr lang="en-US" sz="1700" dirty="0">
                <a:solidFill>
                  <a:srgbClr val="1C1C1E"/>
                </a:solidFill>
                <a:latin typeface="Cambria" pitchFamily="34" charset="0"/>
                <a:ea typeface="Cambria" pitchFamily="34" charset="-122"/>
                <a:cs typeface="Cambria" pitchFamily="34" charset="-120"/>
              </a:rPr>
              <a:t>Demand therefore does not fall when results improve.</a:t>
            </a:r>
            <a:endParaRPr lang="en-US" sz="1700" dirty="0"/>
          </a:p>
        </p:txBody>
      </p:sp>
      <p:sp>
        <p:nvSpPr>
          <p:cNvPr id="9" name="Text 7"/>
          <p:cNvSpPr txBox="1"/>
          <p:nvPr/>
        </p:nvSpPr>
        <p:spPr>
          <a:xfrm>
            <a:off x="7543800" y="4572000"/>
            <a:ext cx="914400" cy="228600"/>
          </a:xfrm>
          <a:prstGeom prst="rect">
            <a:avLst/>
          </a:prstGeom>
          <a:noFill/>
          <a:ln/>
        </p:spPr>
        <p:txBody>
          <a:bodyPr wrap="square" lIns="0" tIns="0" rIns="0" bIns="0" rtlCol="0" anchor="ctr"/>
          <a:lstStyle/>
          <a:p>
            <a:pPr algn="r" indent="0" marL="0">
              <a:buNone/>
            </a:pPr>
            <a:r>
              <a:rPr lang="en-US" sz="950" dirty="0">
                <a:solidFill>
                  <a:srgbClr val="82828A"/>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1325880" cy="274320"/>
          </a:xfrm>
          <a:prstGeom prst="rect">
            <a:avLst/>
          </a:prstGeom>
          <a:noFill/>
          <a:ln/>
        </p:spPr>
        <p:txBody>
          <a:bodyPr wrap="square" lIns="0" tIns="0" rIns="0" bIns="0" rtlCol="0" anchor="t"/>
          <a:lstStyle/>
          <a:p>
            <a:pPr indent="0" marL="0">
              <a:buNone/>
            </a:pPr>
            <a:r>
              <a:rPr lang="en-US" sz="1150" dirty="0">
                <a:solidFill>
                  <a:srgbClr val="82828A"/>
                </a:solidFill>
                <a:latin typeface="Calibri" pitchFamily="34" charset="0"/>
                <a:ea typeface="Calibri" pitchFamily="34" charset="-122"/>
                <a:cs typeface="Calibri" pitchFamily="34" charset="-120"/>
              </a:rPr>
              <a:t>Second</a:t>
            </a:r>
            <a:endParaRPr lang="en-US" sz="1150" dirty="0"/>
          </a:p>
        </p:txBody>
      </p:sp>
      <p:sp>
        <p:nvSpPr>
          <p:cNvPr id="3" name="Text 1"/>
          <p:cNvSpPr txBox="1"/>
          <p:nvPr/>
        </p:nvSpPr>
        <p:spPr>
          <a:xfrm>
            <a:off x="2240280" y="566928"/>
            <a:ext cx="6217920" cy="502920"/>
          </a:xfrm>
          <a:prstGeom prst="rect">
            <a:avLst/>
          </a:prstGeom>
          <a:noFill/>
          <a:ln/>
        </p:spPr>
        <p:txBody>
          <a:bodyPr wrap="square" lIns="0" tIns="0" rIns="0" bIns="0" rtlCol="0" anchor="t"/>
          <a:lstStyle/>
          <a:p>
            <a:pPr indent="0" marL="0">
              <a:buNone/>
            </a:pPr>
            <a:r>
              <a:rPr lang="en-US" sz="2600" b="1" dirty="0">
                <a:solidFill>
                  <a:srgbClr val="1C1C1E"/>
                </a:solidFill>
                <a:latin typeface="Cambria" pitchFamily="34" charset="0"/>
                <a:ea typeface="Cambria" pitchFamily="34" charset="-122"/>
                <a:cs typeface="Cambria" pitchFamily="34" charset="-120"/>
              </a:rPr>
              <a:t>Where the expectation formed</a:t>
            </a:r>
            <a:endParaRPr lang="en-US" sz="2600" dirty="0"/>
          </a:p>
        </p:txBody>
      </p:sp>
      <p:sp>
        <p:nvSpPr>
          <p:cNvPr id="4" name="Text 2"/>
          <p:cNvSpPr txBox="1"/>
          <p:nvPr/>
        </p:nvSpPr>
        <p:spPr>
          <a:xfrm>
            <a:off x="2240280" y="1325880"/>
            <a:ext cx="5852160" cy="566928"/>
          </a:xfrm>
          <a:prstGeom prst="rect">
            <a:avLst/>
          </a:prstGeom>
          <a:noFill/>
          <a:ln/>
        </p:spPr>
        <p:txBody>
          <a:bodyPr wrap="square" lIns="0" tIns="0" rIns="0" bIns="0" rtlCol="0" anchor="t"/>
          <a:lstStyle/>
          <a:p>
            <a:pPr indent="0" marL="0">
              <a:lnSpc>
                <a:spcPct val="125000"/>
              </a:lnSpc>
              <a:buNone/>
            </a:pPr>
            <a:r>
              <a:rPr lang="en-US" sz="1400" b="1" dirty="0">
                <a:solidFill>
                  <a:srgbClr val="1C1C1E"/>
                </a:solidFill>
                <a:latin typeface="Cambria" pitchFamily="34" charset="0"/>
                <a:ea typeface="Cambria" pitchFamily="34" charset="-122"/>
                <a:cs typeface="Cambria" pitchFamily="34" charset="-120"/>
              </a:rPr>
              <a:t>No natural resources.  </a:t>
            </a:r>
            <a:pPr indent="0" marL="0">
              <a:lnSpc>
                <a:spcPct val="125000"/>
              </a:lnSpc>
              <a:buNone/>
            </a:pPr>
            <a:r>
              <a:rPr lang="en-US" sz="1400" dirty="0">
                <a:solidFill>
                  <a:srgbClr val="4E4E55"/>
                </a:solidFill>
                <a:latin typeface="Calibri" pitchFamily="34" charset="0"/>
                <a:ea typeface="Calibri" pitchFamily="34" charset="-122"/>
                <a:cs typeface="Calibri" pitchFamily="34" charset="-120"/>
              </a:rPr>
              <a:t>A small country whose only usable asset was the capability of its people.</a:t>
            </a:r>
            <a:endParaRPr lang="en-US" sz="1400" dirty="0"/>
          </a:p>
        </p:txBody>
      </p:sp>
      <p:sp>
        <p:nvSpPr>
          <p:cNvPr id="5" name="Text 3"/>
          <p:cNvSpPr txBox="1"/>
          <p:nvPr/>
        </p:nvSpPr>
        <p:spPr>
          <a:xfrm>
            <a:off x="2240280" y="2039112"/>
            <a:ext cx="5852160" cy="566928"/>
          </a:xfrm>
          <a:prstGeom prst="rect">
            <a:avLst/>
          </a:prstGeom>
          <a:noFill/>
          <a:ln/>
        </p:spPr>
        <p:txBody>
          <a:bodyPr wrap="square" lIns="0" tIns="0" rIns="0" bIns="0" rtlCol="0" anchor="t"/>
          <a:lstStyle/>
          <a:p>
            <a:pPr indent="0" marL="0">
              <a:lnSpc>
                <a:spcPct val="125000"/>
              </a:lnSpc>
              <a:buNone/>
            </a:pPr>
            <a:r>
              <a:rPr lang="en-US" sz="1400" b="1" dirty="0">
                <a:solidFill>
                  <a:srgbClr val="1C1C1E"/>
                </a:solidFill>
                <a:latin typeface="Cambria" pitchFamily="34" charset="0"/>
                <a:ea typeface="Cambria" pitchFamily="34" charset="-122"/>
                <a:cs typeface="Cambria" pitchFamily="34" charset="-120"/>
              </a:rPr>
              <a:t>A deliberate choice.  </a:t>
            </a:r>
            <a:pPr indent="0" marL="0">
              <a:lnSpc>
                <a:spcPct val="125000"/>
              </a:lnSpc>
              <a:buNone/>
            </a:pPr>
            <a:r>
              <a:rPr lang="en-US" sz="1400" dirty="0">
                <a:solidFill>
                  <a:srgbClr val="4E4E55"/>
                </a:solidFill>
                <a:latin typeface="Calibri" pitchFamily="34" charset="0"/>
                <a:ea typeface="Calibri" pitchFamily="34" charset="-122"/>
                <a:cs typeface="Calibri" pitchFamily="34" charset="-120"/>
              </a:rPr>
              <a:t>Education was positioned as the main mechanism of social mobility.</a:t>
            </a:r>
            <a:endParaRPr lang="en-US" sz="1400" dirty="0"/>
          </a:p>
        </p:txBody>
      </p:sp>
      <p:sp>
        <p:nvSpPr>
          <p:cNvPr id="6" name="Text 4"/>
          <p:cNvSpPr txBox="1"/>
          <p:nvPr/>
        </p:nvSpPr>
        <p:spPr>
          <a:xfrm>
            <a:off x="2240280" y="2752344"/>
            <a:ext cx="5852160" cy="566928"/>
          </a:xfrm>
          <a:prstGeom prst="rect">
            <a:avLst/>
          </a:prstGeom>
          <a:noFill/>
          <a:ln/>
        </p:spPr>
        <p:txBody>
          <a:bodyPr wrap="square" lIns="0" tIns="0" rIns="0" bIns="0" rtlCol="0" anchor="t"/>
          <a:lstStyle/>
          <a:p>
            <a:pPr indent="0" marL="0">
              <a:lnSpc>
                <a:spcPct val="125000"/>
              </a:lnSpc>
              <a:buNone/>
            </a:pPr>
            <a:r>
              <a:rPr lang="en-US" sz="1400" b="1" dirty="0">
                <a:solidFill>
                  <a:srgbClr val="1C1C1E"/>
                </a:solidFill>
                <a:latin typeface="Cambria" pitchFamily="34" charset="0"/>
                <a:ea typeface="Cambria" pitchFamily="34" charset="-122"/>
                <a:cs typeface="Cambria" pitchFamily="34" charset="-120"/>
              </a:rPr>
              <a:t>A visible payoff.  </a:t>
            </a:r>
            <a:pPr indent="0" marL="0">
              <a:lnSpc>
                <a:spcPct val="125000"/>
              </a:lnSpc>
              <a:buNone/>
            </a:pPr>
            <a:r>
              <a:rPr lang="en-US" sz="1400" dirty="0">
                <a:solidFill>
                  <a:srgbClr val="4E4E55"/>
                </a:solidFill>
                <a:latin typeface="Calibri" pitchFamily="34" charset="0"/>
                <a:ea typeface="Calibri" pitchFamily="34" charset="-122"/>
                <a:cs typeface="Calibri" pitchFamily="34" charset="-120"/>
              </a:rPr>
              <a:t>In the early decades the link between examinations and employment was direct.</a:t>
            </a:r>
            <a:endParaRPr lang="en-US" sz="1400" dirty="0"/>
          </a:p>
        </p:txBody>
      </p:sp>
      <p:sp>
        <p:nvSpPr>
          <p:cNvPr id="7" name="Text 5"/>
          <p:cNvSpPr txBox="1"/>
          <p:nvPr/>
        </p:nvSpPr>
        <p:spPr>
          <a:xfrm>
            <a:off x="2240280" y="3657600"/>
            <a:ext cx="5943600" cy="502920"/>
          </a:xfrm>
          <a:prstGeom prst="rect">
            <a:avLst/>
          </a:prstGeom>
          <a:noFill/>
          <a:ln/>
        </p:spPr>
        <p:txBody>
          <a:bodyPr wrap="square" lIns="0" tIns="0" rIns="0" bIns="0" rtlCol="0" anchor="t"/>
          <a:lstStyle/>
          <a:p>
            <a:pPr indent="0" marL="0">
              <a:lnSpc>
                <a:spcPct val="120000"/>
              </a:lnSpc>
              <a:buNone/>
            </a:pPr>
            <a:r>
              <a:rPr lang="en-US" sz="1700" dirty="0">
                <a:solidFill>
                  <a:srgbClr val="1C1C1E"/>
                </a:solidFill>
                <a:latin typeface="Cambria" pitchFamily="34" charset="0"/>
                <a:ea typeface="Cambria" pitchFamily="34" charset="-122"/>
                <a:cs typeface="Cambria" pitchFamily="34" charset="-120"/>
              </a:rPr>
              <a:t>The expectation persisted after the economic conditions changed.</a:t>
            </a:r>
            <a:endParaRPr lang="en-US" sz="1700" dirty="0"/>
          </a:p>
        </p:txBody>
      </p:sp>
      <p:sp>
        <p:nvSpPr>
          <p:cNvPr id="8" name="Text 6"/>
          <p:cNvSpPr txBox="1"/>
          <p:nvPr/>
        </p:nvSpPr>
        <p:spPr>
          <a:xfrm>
            <a:off x="7543800" y="4572000"/>
            <a:ext cx="914400" cy="228600"/>
          </a:xfrm>
          <a:prstGeom prst="rect">
            <a:avLst/>
          </a:prstGeom>
          <a:noFill/>
          <a:ln/>
        </p:spPr>
        <p:txBody>
          <a:bodyPr wrap="square" lIns="0" tIns="0" rIns="0" bIns="0" rtlCol="0" anchor="ctr"/>
          <a:lstStyle/>
          <a:p>
            <a:pPr algn="r" indent="0" marL="0">
              <a:buNone/>
            </a:pPr>
            <a:r>
              <a:rPr lang="en-US" sz="950" dirty="0">
                <a:solidFill>
                  <a:srgbClr val="82828A"/>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1325880" cy="274320"/>
          </a:xfrm>
          <a:prstGeom prst="rect">
            <a:avLst/>
          </a:prstGeom>
          <a:noFill/>
          <a:ln/>
        </p:spPr>
        <p:txBody>
          <a:bodyPr wrap="square" lIns="0" tIns="0" rIns="0" bIns="0" rtlCol="0" anchor="t"/>
          <a:lstStyle/>
          <a:p>
            <a:pPr indent="0" marL="0">
              <a:buNone/>
            </a:pPr>
            <a:r>
              <a:rPr lang="en-US" sz="1150" dirty="0">
                <a:solidFill>
                  <a:srgbClr val="82828A"/>
                </a:solidFill>
                <a:latin typeface="Calibri" pitchFamily="34" charset="0"/>
                <a:ea typeface="Calibri" pitchFamily="34" charset="-122"/>
                <a:cs typeface="Calibri" pitchFamily="34" charset="-120"/>
              </a:rPr>
              <a:t>Third</a:t>
            </a:r>
            <a:endParaRPr lang="en-US" sz="1150" dirty="0"/>
          </a:p>
        </p:txBody>
      </p:sp>
      <p:sp>
        <p:nvSpPr>
          <p:cNvPr id="3" name="Text 1"/>
          <p:cNvSpPr txBox="1"/>
          <p:nvPr/>
        </p:nvSpPr>
        <p:spPr>
          <a:xfrm>
            <a:off x="2240280" y="566928"/>
            <a:ext cx="6217920" cy="502920"/>
          </a:xfrm>
          <a:prstGeom prst="rect">
            <a:avLst/>
          </a:prstGeom>
          <a:noFill/>
          <a:ln/>
        </p:spPr>
        <p:txBody>
          <a:bodyPr wrap="square" lIns="0" tIns="0" rIns="0" bIns="0" rtlCol="0" anchor="t"/>
          <a:lstStyle/>
          <a:p>
            <a:pPr indent="0" marL="0">
              <a:buNone/>
            </a:pPr>
            <a:r>
              <a:rPr lang="en-US" sz="2600" b="1" dirty="0">
                <a:solidFill>
                  <a:srgbClr val="1C1C1E"/>
                </a:solidFill>
                <a:latin typeface="Cambria" pitchFamily="34" charset="0"/>
                <a:ea typeface="Cambria" pitchFamily="34" charset="-122"/>
                <a:cs typeface="Cambria" pitchFamily="34" charset="-120"/>
              </a:rPr>
              <a:t>Policy and practice</a:t>
            </a:r>
            <a:endParaRPr lang="en-US" sz="2600" dirty="0"/>
          </a:p>
        </p:txBody>
      </p:sp>
      <p:sp>
        <p:nvSpPr>
          <p:cNvPr id="4" name="Text 2"/>
          <p:cNvSpPr txBox="1"/>
          <p:nvPr/>
        </p:nvSpPr>
        <p:spPr>
          <a:xfrm>
            <a:off x="2240280" y="1325880"/>
            <a:ext cx="3657600" cy="274320"/>
          </a:xfrm>
          <a:prstGeom prst="rect">
            <a:avLst/>
          </a:prstGeom>
          <a:noFill/>
          <a:ln/>
        </p:spPr>
        <p:txBody>
          <a:bodyPr wrap="square" lIns="0" tIns="0" rIns="0" bIns="0" rtlCol="0" anchor="t"/>
          <a:lstStyle/>
          <a:p>
            <a:pPr indent="0" marL="0">
              <a:buNone/>
            </a:pPr>
            <a:r>
              <a:rPr lang="en-US" sz="1150" dirty="0">
                <a:solidFill>
                  <a:srgbClr val="82828A"/>
                </a:solidFill>
                <a:latin typeface="Calibri" pitchFamily="34" charset="0"/>
                <a:ea typeface="Calibri" pitchFamily="34" charset="-122"/>
                <a:cs typeface="Calibri" pitchFamily="34" charset="-120"/>
              </a:rPr>
              <a:t>What the system has removed</a:t>
            </a:r>
            <a:endParaRPr lang="en-US" sz="1150" dirty="0"/>
          </a:p>
        </p:txBody>
      </p:sp>
      <p:sp>
        <p:nvSpPr>
          <p:cNvPr id="5" name="Text 3"/>
          <p:cNvSpPr txBox="1"/>
          <p:nvPr/>
        </p:nvSpPr>
        <p:spPr>
          <a:xfrm>
            <a:off x="2240280" y="1664208"/>
            <a:ext cx="228600" cy="274320"/>
          </a:xfrm>
          <a:prstGeom prst="rect">
            <a:avLst/>
          </a:prstGeom>
          <a:noFill/>
          <a:ln/>
        </p:spPr>
        <p:txBody>
          <a:bodyPr wrap="square" lIns="0" tIns="0" rIns="0" bIns="0" rtlCol="0" anchor="t"/>
          <a:lstStyle/>
          <a:p>
            <a:pPr indent="0" marL="0">
              <a:buNone/>
            </a:pPr>
            <a:r>
              <a:rPr lang="en-US" sz="1400" dirty="0">
                <a:solidFill>
                  <a:srgbClr val="82828A"/>
                </a:solidFill>
                <a:latin typeface="Calibri" pitchFamily="34" charset="0"/>
                <a:ea typeface="Calibri" pitchFamily="34" charset="-122"/>
                <a:cs typeface="Calibri" pitchFamily="34" charset="-120"/>
              </a:rPr>
              <a:t>—</a:t>
            </a:r>
            <a:endParaRPr lang="en-US" sz="1400" dirty="0"/>
          </a:p>
        </p:txBody>
      </p:sp>
      <p:sp>
        <p:nvSpPr>
          <p:cNvPr id="6" name="Text 4"/>
          <p:cNvSpPr txBox="1"/>
          <p:nvPr/>
        </p:nvSpPr>
        <p:spPr>
          <a:xfrm>
            <a:off x="2496312" y="1664208"/>
            <a:ext cx="3291840" cy="310896"/>
          </a:xfrm>
          <a:prstGeom prst="rect">
            <a:avLst/>
          </a:prstGeom>
          <a:noFill/>
          <a:ln/>
        </p:spPr>
        <p:txBody>
          <a:bodyPr wrap="square" lIns="0" tIns="0" rIns="0" bIns="0" rtlCol="0" anchor="t"/>
          <a:lstStyle/>
          <a:p>
            <a:pPr indent="0" marL="0">
              <a:lnSpc>
                <a:spcPct val="120000"/>
              </a:lnSpc>
              <a:buNone/>
            </a:pPr>
            <a:r>
              <a:rPr lang="en-US" sz="1400" dirty="0">
                <a:solidFill>
                  <a:srgbClr val="1C1C1E"/>
                </a:solidFill>
                <a:latin typeface="Calibri" pitchFamily="34" charset="0"/>
                <a:ea typeface="Calibri" pitchFamily="34" charset="-122"/>
                <a:cs typeface="Calibri" pitchFamily="34" charset="-120"/>
              </a:rPr>
              <a:t>Mid-year examinations, at all levels</a:t>
            </a:r>
            <a:endParaRPr lang="en-US" sz="1400" dirty="0"/>
          </a:p>
        </p:txBody>
      </p:sp>
      <p:sp>
        <p:nvSpPr>
          <p:cNvPr id="7" name="Text 5"/>
          <p:cNvSpPr txBox="1"/>
          <p:nvPr/>
        </p:nvSpPr>
        <p:spPr>
          <a:xfrm>
            <a:off x="2240280" y="2176272"/>
            <a:ext cx="228600" cy="274320"/>
          </a:xfrm>
          <a:prstGeom prst="rect">
            <a:avLst/>
          </a:prstGeom>
          <a:noFill/>
          <a:ln/>
        </p:spPr>
        <p:txBody>
          <a:bodyPr wrap="square" lIns="0" tIns="0" rIns="0" bIns="0" rtlCol="0" anchor="t"/>
          <a:lstStyle/>
          <a:p>
            <a:pPr indent="0" marL="0">
              <a:buNone/>
            </a:pPr>
            <a:r>
              <a:rPr lang="en-US" sz="1400" dirty="0">
                <a:solidFill>
                  <a:srgbClr val="82828A"/>
                </a:solidFill>
                <a:latin typeface="Calibri" pitchFamily="34" charset="0"/>
                <a:ea typeface="Calibri" pitchFamily="34" charset="-122"/>
                <a:cs typeface="Calibri" pitchFamily="34" charset="-120"/>
              </a:rPr>
              <a:t>—</a:t>
            </a:r>
            <a:endParaRPr lang="en-US" sz="1400" dirty="0"/>
          </a:p>
        </p:txBody>
      </p:sp>
      <p:sp>
        <p:nvSpPr>
          <p:cNvPr id="8" name="Text 6"/>
          <p:cNvSpPr txBox="1"/>
          <p:nvPr/>
        </p:nvSpPr>
        <p:spPr>
          <a:xfrm>
            <a:off x="2496312" y="2176272"/>
            <a:ext cx="3291840" cy="585216"/>
          </a:xfrm>
          <a:prstGeom prst="rect">
            <a:avLst/>
          </a:prstGeom>
          <a:noFill/>
          <a:ln/>
        </p:spPr>
        <p:txBody>
          <a:bodyPr wrap="square" lIns="0" tIns="0" rIns="0" bIns="0" rtlCol="0" anchor="t"/>
          <a:lstStyle/>
          <a:p>
            <a:pPr indent="0" marL="0">
              <a:lnSpc>
                <a:spcPct val="120000"/>
              </a:lnSpc>
              <a:buNone/>
            </a:pPr>
            <a:r>
              <a:rPr lang="en-US" sz="1400" dirty="0">
                <a:solidFill>
                  <a:srgbClr val="1C1C1E"/>
                </a:solidFill>
                <a:latin typeface="Calibri" pitchFamily="34" charset="0"/>
                <a:ea typeface="Calibri" pitchFamily="34" charset="-122"/>
                <a:cs typeface="Calibri" pitchFamily="34" charset="-120"/>
              </a:rPr>
              <a:t>Exact PSLE aggregate scores, now reported in wide bands</a:t>
            </a:r>
            <a:endParaRPr lang="en-US" sz="1400" dirty="0"/>
          </a:p>
        </p:txBody>
      </p:sp>
      <p:sp>
        <p:nvSpPr>
          <p:cNvPr id="9" name="Text 7"/>
          <p:cNvSpPr txBox="1"/>
          <p:nvPr/>
        </p:nvSpPr>
        <p:spPr>
          <a:xfrm>
            <a:off x="2240280" y="2962656"/>
            <a:ext cx="228600" cy="274320"/>
          </a:xfrm>
          <a:prstGeom prst="rect">
            <a:avLst/>
          </a:prstGeom>
          <a:noFill/>
          <a:ln/>
        </p:spPr>
        <p:txBody>
          <a:bodyPr wrap="square" lIns="0" tIns="0" rIns="0" bIns="0" rtlCol="0" anchor="t"/>
          <a:lstStyle/>
          <a:p>
            <a:pPr indent="0" marL="0">
              <a:buNone/>
            </a:pPr>
            <a:r>
              <a:rPr lang="en-US" sz="1400" dirty="0">
                <a:solidFill>
                  <a:srgbClr val="82828A"/>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2496312" y="2962656"/>
            <a:ext cx="3291840" cy="310896"/>
          </a:xfrm>
          <a:prstGeom prst="rect">
            <a:avLst/>
          </a:prstGeom>
          <a:noFill/>
          <a:ln/>
        </p:spPr>
        <p:txBody>
          <a:bodyPr wrap="square" lIns="0" tIns="0" rIns="0" bIns="0" rtlCol="0" anchor="t"/>
          <a:lstStyle/>
          <a:p>
            <a:pPr indent="0" marL="0">
              <a:lnSpc>
                <a:spcPct val="120000"/>
              </a:lnSpc>
              <a:buNone/>
            </a:pPr>
            <a:r>
              <a:rPr lang="en-US" sz="1400" dirty="0">
                <a:solidFill>
                  <a:srgbClr val="1C1C1E"/>
                </a:solidFill>
                <a:latin typeface="Calibri" pitchFamily="34" charset="0"/>
                <a:ea typeface="Calibri" pitchFamily="34" charset="-122"/>
                <a:cs typeface="Calibri" pitchFamily="34" charset="-120"/>
              </a:rPr>
              <a:t>Publicity for top national scorers</a:t>
            </a:r>
            <a:endParaRPr lang="en-US" sz="1400" dirty="0"/>
          </a:p>
        </p:txBody>
      </p:sp>
      <p:sp>
        <p:nvSpPr>
          <p:cNvPr id="11" name="Text 9"/>
          <p:cNvSpPr txBox="1"/>
          <p:nvPr/>
        </p:nvSpPr>
        <p:spPr>
          <a:xfrm>
            <a:off x="6035040" y="1325880"/>
            <a:ext cx="2423160" cy="274320"/>
          </a:xfrm>
          <a:prstGeom prst="rect">
            <a:avLst/>
          </a:prstGeom>
          <a:noFill/>
          <a:ln/>
        </p:spPr>
        <p:txBody>
          <a:bodyPr wrap="square" lIns="0" tIns="0" rIns="0" bIns="0" rtlCol="0" anchor="t"/>
          <a:lstStyle/>
          <a:p>
            <a:pPr indent="0" marL="0">
              <a:buNone/>
            </a:pPr>
            <a:r>
              <a:rPr lang="en-US" sz="1150" dirty="0">
                <a:solidFill>
                  <a:srgbClr val="82828A"/>
                </a:solidFill>
                <a:latin typeface="Calibri" pitchFamily="34" charset="0"/>
                <a:ea typeface="Calibri" pitchFamily="34" charset="-122"/>
                <a:cs typeface="Calibri" pitchFamily="34" charset="-120"/>
              </a:rPr>
              <a:t>Over the same period</a:t>
            </a:r>
            <a:endParaRPr lang="en-US" sz="1150" dirty="0"/>
          </a:p>
        </p:txBody>
      </p:sp>
      <p:sp>
        <p:nvSpPr>
          <p:cNvPr id="12" name="Text 10"/>
          <p:cNvSpPr txBox="1"/>
          <p:nvPr/>
        </p:nvSpPr>
        <p:spPr>
          <a:xfrm>
            <a:off x="6035040" y="1645920"/>
            <a:ext cx="2423160" cy="457200"/>
          </a:xfrm>
          <a:prstGeom prst="rect">
            <a:avLst/>
          </a:prstGeom>
          <a:noFill/>
          <a:ln/>
        </p:spPr>
        <p:txBody>
          <a:bodyPr wrap="square" lIns="0" tIns="0" rIns="0" bIns="0" rtlCol="0" anchor="t"/>
          <a:lstStyle/>
          <a:p>
            <a:pPr indent="0" marL="0">
              <a:buNone/>
            </a:pPr>
            <a:r>
              <a:rPr lang="en-US" sz="2200" dirty="0">
                <a:solidFill>
                  <a:srgbClr val="8A2A2A"/>
                </a:solidFill>
                <a:latin typeface="Cambria" pitchFamily="34" charset="0"/>
                <a:ea typeface="Cambria" pitchFamily="34" charset="-122"/>
                <a:cs typeface="Cambria" pitchFamily="34" charset="-120"/>
              </a:rPr>
              <a:t>$1.4bn → $1.8bn</a:t>
            </a:r>
            <a:endParaRPr lang="en-US" sz="2200" dirty="0"/>
          </a:p>
        </p:txBody>
      </p:sp>
      <p:sp>
        <p:nvSpPr>
          <p:cNvPr id="13" name="Text 11"/>
          <p:cNvSpPr txBox="1"/>
          <p:nvPr/>
        </p:nvSpPr>
        <p:spPr>
          <a:xfrm>
            <a:off x="6035040" y="2194560"/>
            <a:ext cx="2423160" cy="1005840"/>
          </a:xfrm>
          <a:prstGeom prst="rect">
            <a:avLst/>
          </a:prstGeom>
          <a:noFill/>
          <a:ln/>
        </p:spPr>
        <p:txBody>
          <a:bodyPr wrap="square" lIns="0" tIns="0" rIns="0" bIns="0" rtlCol="0" anchor="t"/>
          <a:lstStyle/>
          <a:p>
            <a:pPr indent="0" marL="0">
              <a:lnSpc>
                <a:spcPct val="120000"/>
              </a:lnSpc>
              <a:buNone/>
            </a:pPr>
            <a:r>
              <a:rPr lang="en-US" sz="1250" dirty="0">
                <a:solidFill>
                  <a:srgbClr val="4E4E55"/>
                </a:solidFill>
                <a:latin typeface="Calibri" pitchFamily="34" charset="0"/>
                <a:ea typeface="Calibri" pitchFamily="34" charset="-122"/>
                <a:cs typeface="Calibri" pitchFamily="34" charset="-120"/>
              </a:rPr>
              <a:t>Tuition expenditure has risen while visible differentiation in the system was being reduced.</a:t>
            </a:r>
            <a:endParaRPr lang="en-US" sz="1250" dirty="0"/>
          </a:p>
        </p:txBody>
      </p:sp>
      <p:sp>
        <p:nvSpPr>
          <p:cNvPr id="14" name="Text 12"/>
          <p:cNvSpPr txBox="1"/>
          <p:nvPr/>
        </p:nvSpPr>
        <p:spPr>
          <a:xfrm>
            <a:off x="2240280" y="3657600"/>
            <a:ext cx="5943600" cy="777240"/>
          </a:xfrm>
          <a:prstGeom prst="rect">
            <a:avLst/>
          </a:prstGeom>
          <a:noFill/>
          <a:ln/>
        </p:spPr>
        <p:txBody>
          <a:bodyPr wrap="square" lIns="0" tIns="0" rIns="0" bIns="0" rtlCol="0" anchor="t"/>
          <a:lstStyle/>
          <a:p>
            <a:pPr indent="0" marL="0">
              <a:lnSpc>
                <a:spcPct val="120000"/>
              </a:lnSpc>
              <a:buNone/>
            </a:pPr>
            <a:r>
              <a:rPr lang="en-US" sz="1700" dirty="0">
                <a:solidFill>
                  <a:srgbClr val="1C1C1E"/>
                </a:solidFill>
                <a:latin typeface="Cambria" pitchFamily="34" charset="0"/>
                <a:ea typeface="Cambria" pitchFamily="34" charset="-122"/>
                <a:cs typeface="Cambria" pitchFamily="34" charset="-120"/>
              </a:rPr>
              <a:t>One reading is that reducing visible differentiation pushes families to secure an advantage privately instead.</a:t>
            </a:r>
            <a:endParaRPr lang="en-US" sz="1700" dirty="0"/>
          </a:p>
        </p:txBody>
      </p:sp>
      <p:sp>
        <p:nvSpPr>
          <p:cNvPr id="15" name="Text 13"/>
          <p:cNvSpPr txBox="1"/>
          <p:nvPr/>
        </p:nvSpPr>
        <p:spPr>
          <a:xfrm>
            <a:off x="7543800" y="4572000"/>
            <a:ext cx="914400" cy="228600"/>
          </a:xfrm>
          <a:prstGeom prst="rect">
            <a:avLst/>
          </a:prstGeom>
          <a:noFill/>
          <a:ln/>
        </p:spPr>
        <p:txBody>
          <a:bodyPr wrap="square" lIns="0" tIns="0" rIns="0" bIns="0" rtlCol="0" anchor="ctr"/>
          <a:lstStyle/>
          <a:p>
            <a:pPr algn="r" indent="0" marL="0">
              <a:buNone/>
            </a:pPr>
            <a:r>
              <a:rPr lang="en-US" sz="950" dirty="0">
                <a:solidFill>
                  <a:srgbClr val="82828A"/>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1325880" cy="274320"/>
          </a:xfrm>
          <a:prstGeom prst="rect">
            <a:avLst/>
          </a:prstGeom>
          <a:noFill/>
          <a:ln/>
        </p:spPr>
        <p:txBody>
          <a:bodyPr wrap="square" lIns="0" tIns="0" rIns="0" bIns="0" rtlCol="0" anchor="t"/>
          <a:lstStyle/>
          <a:p>
            <a:pPr indent="0" marL="0">
              <a:buNone/>
            </a:pPr>
            <a:r>
              <a:rPr lang="en-US" sz="1150" dirty="0">
                <a:solidFill>
                  <a:srgbClr val="82828A"/>
                </a:solidFill>
                <a:latin typeface="Calibri" pitchFamily="34" charset="0"/>
                <a:ea typeface="Calibri" pitchFamily="34" charset="-122"/>
                <a:cs typeface="Calibri" pitchFamily="34" charset="-120"/>
              </a:rPr>
              <a:t>Trade-off</a:t>
            </a:r>
            <a:endParaRPr lang="en-US" sz="1150" dirty="0"/>
          </a:p>
        </p:txBody>
      </p:sp>
      <p:sp>
        <p:nvSpPr>
          <p:cNvPr id="3" name="Text 1"/>
          <p:cNvSpPr txBox="1"/>
          <p:nvPr/>
        </p:nvSpPr>
        <p:spPr>
          <a:xfrm>
            <a:off x="2240280" y="566928"/>
            <a:ext cx="6217920" cy="502920"/>
          </a:xfrm>
          <a:prstGeom prst="rect">
            <a:avLst/>
          </a:prstGeom>
          <a:noFill/>
          <a:ln/>
        </p:spPr>
        <p:txBody>
          <a:bodyPr wrap="square" lIns="0" tIns="0" rIns="0" bIns="0" rtlCol="0" anchor="t"/>
          <a:lstStyle/>
          <a:p>
            <a:pPr indent="0" marL="0">
              <a:buNone/>
            </a:pPr>
            <a:r>
              <a:rPr lang="en-US" sz="2600" b="1" dirty="0">
                <a:solidFill>
                  <a:srgbClr val="1C1C1E"/>
                </a:solidFill>
                <a:latin typeface="Cambria" pitchFamily="34" charset="0"/>
                <a:ea typeface="Cambria" pitchFamily="34" charset="-122"/>
                <a:cs typeface="Cambria" pitchFamily="34" charset="-120"/>
              </a:rPr>
              <a:t>Mainly a question of time</a:t>
            </a:r>
            <a:endParaRPr lang="en-US" sz="2600" dirty="0"/>
          </a:p>
        </p:txBody>
      </p:sp>
      <p:sp>
        <p:nvSpPr>
          <p:cNvPr id="4" name="Text 2"/>
          <p:cNvSpPr txBox="1"/>
          <p:nvPr/>
        </p:nvSpPr>
        <p:spPr>
          <a:xfrm>
            <a:off x="2240280" y="1463040"/>
            <a:ext cx="5852160" cy="457200"/>
          </a:xfrm>
          <a:prstGeom prst="rect">
            <a:avLst/>
          </a:prstGeom>
          <a:noFill/>
          <a:ln/>
        </p:spPr>
        <p:txBody>
          <a:bodyPr wrap="square" lIns="0" tIns="0" rIns="0" bIns="0" rtlCol="0" anchor="t"/>
          <a:lstStyle/>
          <a:p>
            <a:pPr indent="0" marL="0">
              <a:buNone/>
            </a:pPr>
            <a:r>
              <a:rPr lang="en-US" sz="2000" dirty="0">
                <a:solidFill>
                  <a:srgbClr val="1C1C1E"/>
                </a:solidFill>
                <a:latin typeface="Cambria" pitchFamily="34" charset="0"/>
                <a:ea typeface="Cambria" pitchFamily="34" charset="-122"/>
                <a:cs typeface="Cambria" pitchFamily="34" charset="-120"/>
              </a:rPr>
              <a:t>Attainment is high.</a:t>
            </a:r>
            <a:endParaRPr lang="en-US" sz="2000" dirty="0"/>
          </a:p>
        </p:txBody>
      </p:sp>
      <p:sp>
        <p:nvSpPr>
          <p:cNvPr id="5" name="Text 3"/>
          <p:cNvSpPr txBox="1"/>
          <p:nvPr/>
        </p:nvSpPr>
        <p:spPr>
          <a:xfrm>
            <a:off x="2240280" y="2121408"/>
            <a:ext cx="5852160" cy="457200"/>
          </a:xfrm>
          <a:prstGeom prst="rect">
            <a:avLst/>
          </a:prstGeom>
          <a:noFill/>
          <a:ln/>
        </p:spPr>
        <p:txBody>
          <a:bodyPr wrap="square" lIns="0" tIns="0" rIns="0" bIns="0" rtlCol="0" anchor="t"/>
          <a:lstStyle/>
          <a:p>
            <a:pPr indent="0" marL="0">
              <a:buNone/>
            </a:pPr>
            <a:r>
              <a:rPr lang="en-US" sz="2000" dirty="0">
                <a:solidFill>
                  <a:srgbClr val="1C1C1E"/>
                </a:solidFill>
                <a:latin typeface="Cambria" pitchFamily="34" charset="0"/>
                <a:ea typeface="Cambria" pitchFamily="34" charset="-122"/>
                <a:cs typeface="Cambria" pitchFamily="34" charset="-120"/>
              </a:rPr>
              <a:t>Out-of-school hours are heavily committed.</a:t>
            </a:r>
            <a:endParaRPr lang="en-US" sz="2000" dirty="0"/>
          </a:p>
        </p:txBody>
      </p:sp>
      <p:sp>
        <p:nvSpPr>
          <p:cNvPr id="6" name="Text 4"/>
          <p:cNvSpPr txBox="1"/>
          <p:nvPr/>
        </p:nvSpPr>
        <p:spPr>
          <a:xfrm>
            <a:off x="2240280" y="2779776"/>
            <a:ext cx="5852160" cy="457200"/>
          </a:xfrm>
          <a:prstGeom prst="rect">
            <a:avLst/>
          </a:prstGeom>
          <a:noFill/>
          <a:ln/>
        </p:spPr>
        <p:txBody>
          <a:bodyPr wrap="square" lIns="0" tIns="0" rIns="0" bIns="0" rtlCol="0" anchor="t"/>
          <a:lstStyle/>
          <a:p>
            <a:pPr indent="0" marL="0">
              <a:buNone/>
            </a:pPr>
            <a:r>
              <a:rPr lang="en-US" sz="2000" dirty="0">
                <a:solidFill>
                  <a:srgbClr val="1C1C1E"/>
                </a:solidFill>
                <a:latin typeface="Cambria" pitchFamily="34" charset="0"/>
                <a:ea typeface="Cambria" pitchFamily="34" charset="-122"/>
                <a:cs typeface="Cambria" pitchFamily="34" charset="-120"/>
              </a:rPr>
              <a:t>Students encounter academic ranking early.</a:t>
            </a:r>
            <a:endParaRPr lang="en-US" sz="2000" dirty="0"/>
          </a:p>
        </p:txBody>
      </p:sp>
      <p:sp>
        <p:nvSpPr>
          <p:cNvPr id="7" name="Text 5"/>
          <p:cNvSpPr txBox="1"/>
          <p:nvPr/>
        </p:nvSpPr>
        <p:spPr>
          <a:xfrm>
            <a:off x="2240280" y="3703320"/>
            <a:ext cx="5486400" cy="457200"/>
          </a:xfrm>
          <a:prstGeom prst="rect">
            <a:avLst/>
          </a:prstGeom>
          <a:noFill/>
          <a:ln/>
        </p:spPr>
        <p:txBody>
          <a:bodyPr wrap="square" lIns="0" tIns="0" rIns="0" bIns="0" rtlCol="0" anchor="t"/>
          <a:lstStyle/>
          <a:p>
            <a:pPr indent="0" marL="0">
              <a:lnSpc>
                <a:spcPct val="120000"/>
              </a:lnSpc>
              <a:buNone/>
            </a:pPr>
            <a:r>
              <a:rPr lang="en-US" sz="1300" dirty="0">
                <a:solidFill>
                  <a:srgbClr val="4E4E55"/>
                </a:solidFill>
                <a:latin typeface="Calibri" pitchFamily="34" charset="0"/>
                <a:ea typeface="Calibri" pitchFamily="34" charset="-122"/>
                <a:cs typeface="Calibri" pitchFamily="34" charset="-120"/>
              </a:rPr>
              <a:t>The cost falls on the hours available to a child, not on the results they obtain.</a:t>
            </a:r>
            <a:endParaRPr lang="en-US" sz="1300" dirty="0"/>
          </a:p>
        </p:txBody>
      </p:sp>
      <p:sp>
        <p:nvSpPr>
          <p:cNvPr id="8" name="Text 6"/>
          <p:cNvSpPr txBox="1"/>
          <p:nvPr/>
        </p:nvSpPr>
        <p:spPr>
          <a:xfrm>
            <a:off x="7543800" y="4572000"/>
            <a:ext cx="914400" cy="228600"/>
          </a:xfrm>
          <a:prstGeom prst="rect">
            <a:avLst/>
          </a:prstGeom>
          <a:noFill/>
          <a:ln/>
        </p:spPr>
        <p:txBody>
          <a:bodyPr wrap="square" lIns="0" tIns="0" rIns="0" bIns="0" rtlCol="0" anchor="ctr"/>
          <a:lstStyle/>
          <a:p>
            <a:pPr algn="r" indent="0" marL="0">
              <a:buNone/>
            </a:pPr>
            <a:r>
              <a:rPr lang="en-US" sz="950" dirty="0">
                <a:solidFill>
                  <a:srgbClr val="82828A"/>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1325880" cy="274320"/>
          </a:xfrm>
          <a:prstGeom prst="rect">
            <a:avLst/>
          </a:prstGeom>
          <a:noFill/>
          <a:ln/>
        </p:spPr>
        <p:txBody>
          <a:bodyPr wrap="square" lIns="0" tIns="0" rIns="0" bIns="0" rtlCol="0" anchor="t"/>
          <a:lstStyle/>
          <a:p>
            <a:pPr indent="0" marL="0">
              <a:buNone/>
            </a:pPr>
            <a:r>
              <a:rPr lang="en-US" sz="1150" dirty="0">
                <a:solidFill>
                  <a:srgbClr val="82828A"/>
                </a:solidFill>
                <a:latin typeface="Calibri" pitchFamily="34" charset="0"/>
                <a:ea typeface="Calibri" pitchFamily="34" charset="-122"/>
                <a:cs typeface="Calibri" pitchFamily="34" charset="-120"/>
              </a:rPr>
              <a:t>Open question</a:t>
            </a:r>
            <a:endParaRPr lang="en-US" sz="1150" dirty="0"/>
          </a:p>
        </p:txBody>
      </p:sp>
      <p:sp>
        <p:nvSpPr>
          <p:cNvPr id="3" name="Text 1"/>
          <p:cNvSpPr txBox="1"/>
          <p:nvPr/>
        </p:nvSpPr>
        <p:spPr>
          <a:xfrm>
            <a:off x="2240280" y="1325880"/>
            <a:ext cx="5852160" cy="1280160"/>
          </a:xfrm>
          <a:prstGeom prst="rect">
            <a:avLst/>
          </a:prstGeom>
          <a:noFill/>
          <a:ln/>
        </p:spPr>
        <p:txBody>
          <a:bodyPr wrap="square" lIns="0" tIns="0" rIns="0" bIns="0" rtlCol="0" anchor="t"/>
          <a:lstStyle/>
          <a:p>
            <a:pPr indent="0" marL="0">
              <a:lnSpc>
                <a:spcPct val="112000"/>
              </a:lnSpc>
              <a:buNone/>
            </a:pPr>
            <a:r>
              <a:rPr lang="en-US" sz="3000" dirty="0">
                <a:solidFill>
                  <a:srgbClr val="1C1C1E"/>
                </a:solidFill>
                <a:latin typeface="Cambria" pitchFamily="34" charset="0"/>
                <a:ea typeface="Cambria" pitchFamily="34" charset="-122"/>
                <a:cs typeface="Cambria" pitchFamily="34" charset="-120"/>
              </a:rPr>
              <a:t>What keeps this dynamic from forming elsewhere?</a:t>
            </a:r>
            <a:endParaRPr lang="en-US" sz="3000" dirty="0"/>
          </a:p>
        </p:txBody>
      </p:sp>
      <p:sp>
        <p:nvSpPr>
          <p:cNvPr id="4" name="Text 2"/>
          <p:cNvSpPr txBox="1"/>
          <p:nvPr/>
        </p:nvSpPr>
        <p:spPr>
          <a:xfrm>
            <a:off x="2240280" y="2880360"/>
            <a:ext cx="5303520" cy="731520"/>
          </a:xfrm>
          <a:prstGeom prst="rect">
            <a:avLst/>
          </a:prstGeom>
          <a:noFill/>
          <a:ln/>
        </p:spPr>
        <p:txBody>
          <a:bodyPr wrap="square" lIns="0" tIns="0" rIns="0" bIns="0" rtlCol="0" anchor="t"/>
          <a:lstStyle/>
          <a:p>
            <a:pPr indent="0" marL="0">
              <a:lnSpc>
                <a:spcPct val="125000"/>
              </a:lnSpc>
              <a:buNone/>
            </a:pPr>
            <a:r>
              <a:rPr lang="en-US" sz="1500" dirty="0">
                <a:solidFill>
                  <a:srgbClr val="4E4E55"/>
                </a:solidFill>
                <a:latin typeface="Calibri" pitchFamily="34" charset="0"/>
                <a:ea typeface="Calibri" pitchFamily="34" charset="-122"/>
                <a:cs typeface="Calibri" pitchFamily="34" charset="-120"/>
              </a:rPr>
              <a:t>The answer appears to lie less in examination design than in parental expectations.</a:t>
            </a:r>
            <a:endParaRPr lang="en-US" sz="1500" dirty="0"/>
          </a:p>
        </p:txBody>
      </p:sp>
      <p:sp>
        <p:nvSpPr>
          <p:cNvPr id="5" name="Text 3"/>
          <p:cNvSpPr txBox="1"/>
          <p:nvPr/>
        </p:nvSpPr>
        <p:spPr>
          <a:xfrm>
            <a:off x="2240280" y="3794760"/>
            <a:ext cx="5303520" cy="320040"/>
          </a:xfrm>
          <a:prstGeom prst="rect">
            <a:avLst/>
          </a:prstGeom>
          <a:noFill/>
          <a:ln/>
        </p:spPr>
        <p:txBody>
          <a:bodyPr wrap="square" lIns="0" tIns="0" rIns="0" bIns="0" rtlCol="0" anchor="t"/>
          <a:lstStyle/>
          <a:p>
            <a:pPr indent="0" marL="0">
              <a:buNone/>
            </a:pPr>
            <a:r>
              <a:rPr lang="en-US" sz="1250" dirty="0">
                <a:solidFill>
                  <a:srgbClr val="82828A"/>
                </a:solidFill>
                <a:latin typeface="Calibri" pitchFamily="34" charset="0"/>
                <a:ea typeface="Calibri" pitchFamily="34" charset="-122"/>
                <a:cs typeface="Calibri" pitchFamily="34" charset="-120"/>
              </a:rPr>
              <a:t>This is the comparison worth making across systems.</a:t>
            </a:r>
            <a:endParaRPr lang="en-US" sz="1250" dirty="0"/>
          </a:p>
        </p:txBody>
      </p:sp>
      <p:sp>
        <p:nvSpPr>
          <p:cNvPr id="6" name="Text 4"/>
          <p:cNvSpPr txBox="1"/>
          <p:nvPr/>
        </p:nvSpPr>
        <p:spPr>
          <a:xfrm>
            <a:off x="7543800" y="4572000"/>
            <a:ext cx="914400" cy="228600"/>
          </a:xfrm>
          <a:prstGeom prst="rect">
            <a:avLst/>
          </a:prstGeom>
          <a:noFill/>
          <a:ln/>
        </p:spPr>
        <p:txBody>
          <a:bodyPr wrap="square" lIns="0" tIns="0" rIns="0" bIns="0" rtlCol="0" anchor="ctr"/>
          <a:lstStyle/>
          <a:p>
            <a:pPr algn="r" indent="0" marL="0">
              <a:buNone/>
            </a:pPr>
            <a:r>
              <a:rPr lang="en-US" sz="950" dirty="0">
                <a:solidFill>
                  <a:srgbClr val="82828A"/>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Tuition in Singapore</dc:title>
  <dc:subject>PptxGenJS Presentation</dc:subject>
  <dc:creator>Briefing deck</dc:creator>
  <cp:lastModifiedBy>Briefing deck</cp:lastModifiedBy>
  <cp:revision>1</cp:revision>
  <dcterms:created xsi:type="dcterms:W3CDTF">2026-09-14T04:47:40Z</dcterms:created>
  <dcterms:modified xsi:type="dcterms:W3CDTF">2026-09-14T04:47:40Z</dcterms:modified>
</cp:coreProperties>
</file>