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F3C7E"/>
                </a:solidFill>
                <a:latin typeface="Calibri"/>
              </a:defRPr>
            </a:pPr>
            <a:r>
              <a:rPr sz="1200" b="0" i="0" u="none" strike="noStrike">
                <a:solidFill>
                  <a:srgbClr val="2F3C7E"/>
                </a:solidFill>
                <a:latin typeface="Calibri"/>
              </a:rPr>
              <a:t>Total household spending on tuition</a:t>
            </a:r>
          </a:p>
        </c:rich>
      </c:tx>
      <c:layout/>
      <c:overlay val="0"/>
    </c:title>
    <c:autoTitleDeleted val="0"/>
    <c:plotArea>
      <c:layout/>
      <c:barChart>
        <c:barDir val="col"/>
        <c:grouping val="clustered"/>
        <c:varyColors val="0"/>
        <c:ser>
          <c:idx val="0"/>
          <c:order val="0"/>
          <c:tx>
            <c:strRef>
              <c:f>Sheet1!$B$1</c:f>
              <c:strCache>
                <c:ptCount val="1"/>
                <c:pt idx="0">
                  <c:v>Spending</c:v>
                </c:pt>
              </c:strCache>
            </c:strRef>
          </c:tx>
          <c:spPr>
            <a:solidFill>
              <a:srgbClr val="990011"/>
            </a:solidFill>
            <a:effectLst/>
          </c:spPr>
          <c:invertIfNegative val="0"/>
          <c:dLbls>
            <c:numFmt formatCode="$0.0&quot;B&quot;" sourceLinked="0"/>
            <c:txPr>
              <a:bodyPr/>
              <a:lstStyle/>
              <a:p>
                <a:pPr>
                  <a:defRPr b="1" i="0" strike="noStrike" sz="1300" u="none">
                    <a:solidFill>
                      <a:srgbClr val="2F3C7E"/>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2013</c:v>
                  </c:pt>
                  <c:pt idx="1">
                    <c:v>2018</c:v>
                  </c:pt>
                  <c:pt idx="2">
                    <c:v>2023</c:v>
                  </c:pt>
                </c:lvl>
              </c:multiLvlStrCache>
            </c:multiLvlStrRef>
          </c:cat>
          <c:val>
            <c:numRef>
              <c:f>Sheet1!$B$2:$B$4</c:f>
              <c:numCache>
                <c:formatCode>General</c:formatCode>
                <c:ptCount val="3"/>
                <c:pt idx="0">
                  <c:v>1.1</c:v>
                </c:pt>
                <c:pt idx="1">
                  <c:v>1.4</c:v>
                </c:pt>
                <c:pt idx="2">
                  <c:v>1.8</c:v>
                </c:pt>
              </c:numCache>
            </c:numRef>
          </c:val>
        </c:ser>
        <c:dLbls>
          <c:numFmt formatCode="$0.0&quot;B&quot;" sourceLinked="0"/>
          <c:txPr>
            <a:bodyPr/>
            <a:lstStyle/>
            <a:p>
              <a:pPr>
                <a:defRPr b="1" i="0" strike="noStrike" sz="1300" u="none">
                  <a:solidFill>
                    <a:srgbClr val="2F3C7E"/>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5545C"/>
                </a:solidFill>
                <a:latin typeface="Calibri"/>
              </a:defRPr>
            </a:pPr>
            <a:endParaRPr lang="en-US"/>
          </a:p>
        </c:txPr>
        <c:crossAx val="2094734552"/>
        <c:crosses val="autoZero"/>
        <c:auto val="1"/>
        <c:lblAlgn val="ctr"/>
        <c:noMultiLvlLbl val="1"/>
      </c:catAx>
      <c:valAx>
        <c:axId val="2094734552"/>
        <c:scaling>
          <c:orientation val="minMax"/>
          <c:max val="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a short introduction to Singapore's tuition culture, which is often the first thing visiting educators ask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first. In 2023, households in Singapore spent 1.8 billion dollars on private tuition, up from 1.4 billion in 2018 and 1.1 billion in 2013. Average monthly spending per household is about 105 dollars, and the top income quintile spends roughly four times what the bottom quintile does. There are more tuition and enrichment centres than there are schools.
Three points explain the pattern better than the numbers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function of tuition. In many systems, supplementary lessons target students who are behind. In Singapore a large share of tuition students are already performing well, and lessons are often used to work ahead of the school syllabus. Demand therefore does not fall when results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historical basis. Singapore is small and has no natural resources, and education was deliberately positioned as the main mechanism of social mobility. In the early decades that link between examinations and employment was direct and visible. The expectation persisted after the economic conditions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the gap between policy and practice. Mid-year examinations have been removed at all levels. The PSLE now reports achievement in wide bands rather than exact aggregate scores. Top national scorers are no longer publicised. Tuition expenditure has risen across the same period. One reading is that reducing visible differentiation in the system pushes families to secure an advantage privately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is mainly one of time rather than outcomes. Attainment is high, but out-of-school hours are heavily committed, and students encounter academic ranking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question, and the one worth comparing across systems, is what keeps this dynamic from forming elsewhere. The answer appears to lie less in examination design than in parental expectations.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90011"/>
        </a:solidFill>
      </p:bgPr>
    </p:bg>
    <p:spTree>
      <p:nvGrpSpPr>
        <p:cNvPr id="1" name=""/>
        <p:cNvGrpSpPr/>
        <p:nvPr/>
      </p:nvGrpSpPr>
      <p:grpSpPr>
        <a:xfrm>
          <a:off x="0" y="0"/>
          <a:ext cx="0" cy="0"/>
          <a:chOff x="0" y="0"/>
          <a:chExt cx="0" cy="0"/>
        </a:xfrm>
      </p:grpSpPr>
      <p:sp>
        <p:nvSpPr>
          <p:cNvPr id="2" name="Shape 0"/>
          <p:cNvSpPr/>
          <p:nvPr/>
        </p:nvSpPr>
        <p:spPr>
          <a:xfrm>
            <a:off x="6309360" y="-1051560"/>
            <a:ext cx="4114800" cy="4114800"/>
          </a:xfrm>
          <a:prstGeom prst="ellipse">
            <a:avLst/>
          </a:prstGeom>
          <a:solidFill>
            <a:srgbClr val="FFFFFF">
              <a:alpha val="8000"/>
            </a:srgbClr>
          </a:solidFill>
          <a:ln/>
        </p:spPr>
      </p:sp>
      <p:sp>
        <p:nvSpPr>
          <p:cNvPr id="3" name="Shape 1"/>
          <p:cNvSpPr/>
          <p:nvPr/>
        </p:nvSpPr>
        <p:spPr>
          <a:xfrm>
            <a:off x="7269480" y="2331720"/>
            <a:ext cx="2651760" cy="2651760"/>
          </a:xfrm>
          <a:prstGeom prst="ellipse">
            <a:avLst/>
          </a:prstGeom>
          <a:solidFill>
            <a:srgbClr val="FFFFFF">
              <a:alpha val="6000"/>
            </a:srgbClr>
          </a:solidFill>
          <a:ln/>
        </p:spPr>
      </p:sp>
      <p:sp>
        <p:nvSpPr>
          <p:cNvPr id="4" name="Text 2"/>
          <p:cNvSpPr txBox="1"/>
          <p:nvPr/>
        </p:nvSpPr>
        <p:spPr>
          <a:xfrm>
            <a:off x="502920" y="1207008"/>
            <a:ext cx="4572000" cy="237744"/>
          </a:xfrm>
          <a:prstGeom prst="rect">
            <a:avLst/>
          </a:prstGeom>
          <a:noFill/>
          <a:ln/>
        </p:spPr>
        <p:txBody>
          <a:bodyPr wrap="square" lIns="0" tIns="0" rIns="0" bIns="0" rtlCol="0" anchor="ctr"/>
          <a:lstStyle/>
          <a:p>
            <a:pPr indent="0" marL="0">
              <a:buNone/>
            </a:pPr>
            <a:r>
              <a:rPr lang="en-US" sz="1050" b="1" spc="260" kern="0" dirty="0">
                <a:solidFill>
                  <a:srgbClr val="F0D8DA"/>
                </a:solidFill>
                <a:latin typeface="Calibri" pitchFamily="34" charset="0"/>
                <a:ea typeface="Calibri" pitchFamily="34" charset="-122"/>
                <a:cs typeface="Calibri" pitchFamily="34" charset="-120"/>
              </a:rPr>
              <a:t>ORIENTATION BRIEFING</a:t>
            </a:r>
            <a:endParaRPr lang="en-US" sz="1050" dirty="0"/>
          </a:p>
        </p:txBody>
      </p:sp>
      <p:sp>
        <p:nvSpPr>
          <p:cNvPr id="5" name="Text 3"/>
          <p:cNvSpPr txBox="1"/>
          <p:nvPr/>
        </p:nvSpPr>
        <p:spPr>
          <a:xfrm>
            <a:off x="502920" y="1572768"/>
            <a:ext cx="5760720" cy="1737360"/>
          </a:xfrm>
          <a:prstGeom prst="rect">
            <a:avLst/>
          </a:prstGeom>
          <a:noFill/>
          <a:ln/>
        </p:spPr>
        <p:txBody>
          <a:bodyPr wrap="square" lIns="0" tIns="0" rIns="0" bIns="0" rtlCol="0" anchor="ctr"/>
          <a:lstStyle/>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Singapore's</a:t>
            </a:r>
            <a:endParaRPr lang="en-US" sz="4400" dirty="0"/>
          </a:p>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Tuition Culture</a:t>
            </a:r>
            <a:endParaRPr lang="en-US" sz="4400" dirty="0"/>
          </a:p>
        </p:txBody>
      </p:sp>
      <p:sp>
        <p:nvSpPr>
          <p:cNvPr id="6" name="Text 4"/>
          <p:cNvSpPr txBox="1"/>
          <p:nvPr/>
        </p:nvSpPr>
        <p:spPr>
          <a:xfrm>
            <a:off x="502920" y="3401568"/>
            <a:ext cx="5394960" cy="640080"/>
          </a:xfrm>
          <a:prstGeom prst="rect">
            <a:avLst/>
          </a:prstGeom>
          <a:noFill/>
          <a:ln/>
        </p:spPr>
        <p:txBody>
          <a:bodyPr wrap="square" lIns="0" tIns="0" rIns="0" bIns="0" rtlCol="0" anchor="ctr"/>
          <a:lstStyle/>
          <a:p>
            <a:pPr indent="0" marL="0">
              <a:lnSpc>
                <a:spcPct val="120000"/>
              </a:lnSpc>
              <a:buNone/>
            </a:pPr>
            <a:r>
              <a:rPr lang="en-US" sz="1500" dirty="0">
                <a:solidFill>
                  <a:srgbClr val="F0D8DA"/>
                </a:solidFill>
                <a:latin typeface="Calibri" pitchFamily="34" charset="0"/>
                <a:ea typeface="Calibri" pitchFamily="34" charset="-122"/>
                <a:cs typeface="Calibri" pitchFamily="34" charset="-120"/>
              </a:rPr>
              <a:t>The question visiting educators ask first — and what the numbers alone do not explain.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02920" y="384048"/>
            <a:ext cx="3657600" cy="237744"/>
          </a:xfrm>
          <a:prstGeom prst="rect">
            <a:avLst/>
          </a:prstGeom>
          <a:noFill/>
          <a:ln/>
        </p:spPr>
        <p:txBody>
          <a:bodyPr wrap="square" lIns="0" tIns="0" rIns="0" bIns="0" rtlCol="0" anchor="ctr"/>
          <a:lstStyle/>
          <a:p>
            <a:pPr indent="0" marL="0">
              <a:buNone/>
            </a:pPr>
            <a:r>
              <a:rPr lang="en-US" sz="1050" b="1" spc="260" kern="0" dirty="0">
                <a:solidFill>
                  <a:srgbClr val="990011"/>
                </a:solidFill>
                <a:latin typeface="Calibri" pitchFamily="34" charset="0"/>
                <a:ea typeface="Calibri" pitchFamily="34" charset="-122"/>
                <a:cs typeface="Calibri" pitchFamily="34" charset="-120"/>
              </a:rPr>
              <a:t>THE SCALE</a:t>
            </a:r>
            <a:endParaRPr lang="en-US" sz="1050" dirty="0"/>
          </a:p>
        </p:txBody>
      </p:sp>
      <p:sp>
        <p:nvSpPr>
          <p:cNvPr id="3" name="Text 1"/>
          <p:cNvSpPr txBox="1"/>
          <p:nvPr/>
        </p:nvSpPr>
        <p:spPr>
          <a:xfrm>
            <a:off x="502920" y="658368"/>
            <a:ext cx="8138160" cy="502920"/>
          </a:xfrm>
          <a:prstGeom prst="rect">
            <a:avLst/>
          </a:prstGeom>
          <a:noFill/>
          <a:ln/>
        </p:spPr>
        <p:txBody>
          <a:bodyPr wrap="square" lIns="0" tIns="0" rIns="0" bIns="0" rtlCol="0" anchor="t"/>
          <a:lstStyle/>
          <a:p>
            <a:pPr indent="0" marL="0">
              <a:buNone/>
            </a:pPr>
            <a:r>
              <a:rPr lang="en-US" sz="2800" b="1" dirty="0">
                <a:solidFill>
                  <a:srgbClr val="2F3C7E"/>
                </a:solidFill>
                <a:latin typeface="Cambria" pitchFamily="34" charset="0"/>
                <a:ea typeface="Cambria" pitchFamily="34" charset="-122"/>
                <a:cs typeface="Cambria" pitchFamily="34" charset="-120"/>
              </a:rPr>
              <a:t>Spending has risen without pause</a:t>
            </a:r>
            <a:endParaRPr lang="en-US" sz="2800" dirty="0"/>
          </a:p>
        </p:txBody>
      </p:sp>
      <p:sp>
        <p:nvSpPr>
          <p:cNvPr id="4" name="Shape 2"/>
          <p:cNvSpPr/>
          <p:nvPr/>
        </p:nvSpPr>
        <p:spPr>
          <a:xfrm>
            <a:off x="502920" y="1371600"/>
            <a:ext cx="4617720" cy="3063240"/>
          </a:xfrm>
          <a:prstGeom prst="roundRect">
            <a:avLst>
              <a:gd name="adj" fmla="val 2388"/>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graphicFrame>
        <p:nvGraphicFramePr>
          <p:cNvPr id="5" name="Chart 0" descr=""/>
          <p:cNvGraphicFramePr/>
          <p:nvPr/>
        </p:nvGraphicFramePr>
        <p:xfrm>
          <a:off x="612648" y="1481328"/>
          <a:ext cx="4398264" cy="2834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394960" y="1371600"/>
            <a:ext cx="3246120" cy="960120"/>
          </a:xfrm>
          <a:prstGeom prst="roundRect">
            <a:avLst>
              <a:gd name="adj" fmla="val 7619"/>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7" name="Text 4"/>
          <p:cNvSpPr txBox="1"/>
          <p:nvPr/>
        </p:nvSpPr>
        <p:spPr>
          <a:xfrm>
            <a:off x="5559552" y="1490472"/>
            <a:ext cx="1207008" cy="713232"/>
          </a:xfrm>
          <a:prstGeom prst="rect">
            <a:avLst/>
          </a:prstGeom>
          <a:noFill/>
          <a:ln/>
        </p:spPr>
        <p:txBody>
          <a:bodyPr wrap="square" lIns="0" tIns="0" rIns="0" bIns="0" rtlCol="0" anchor="ctr"/>
          <a:lstStyle/>
          <a:p>
            <a:pPr indent="0" marL="0">
              <a:buNone/>
            </a:pPr>
            <a:r>
              <a:rPr lang="en-US" sz="2800" b="1" dirty="0">
                <a:solidFill>
                  <a:srgbClr val="990011"/>
                </a:solidFill>
                <a:latin typeface="Cambria" pitchFamily="34" charset="0"/>
                <a:ea typeface="Cambria" pitchFamily="34" charset="-122"/>
                <a:cs typeface="Cambria" pitchFamily="34" charset="-120"/>
              </a:rPr>
              <a:t>$105</a:t>
            </a:r>
            <a:endParaRPr lang="en-US" sz="2800" dirty="0"/>
          </a:p>
        </p:txBody>
      </p:sp>
      <p:sp>
        <p:nvSpPr>
          <p:cNvPr id="8" name="Text 5"/>
          <p:cNvSpPr txBox="1"/>
          <p:nvPr/>
        </p:nvSpPr>
        <p:spPr>
          <a:xfrm>
            <a:off x="6766560" y="1490472"/>
            <a:ext cx="1737360" cy="713232"/>
          </a:xfrm>
          <a:prstGeom prst="rect">
            <a:avLst/>
          </a:prstGeom>
          <a:noFill/>
          <a:ln/>
        </p:spPr>
        <p:txBody>
          <a:bodyPr wrap="square" lIns="0" tIns="0" rIns="0" bIns="0" rtlCol="0" anchor="ctr"/>
          <a:lstStyle/>
          <a:p>
            <a:pPr indent="0" marL="0">
              <a:lnSpc>
                <a:spcPct val="110000"/>
              </a:lnSpc>
              <a:buNone/>
            </a:pPr>
            <a:r>
              <a:rPr lang="en-US" sz="1100" dirty="0">
                <a:solidFill>
                  <a:srgbClr val="55545C"/>
                </a:solidFill>
                <a:latin typeface="Calibri" pitchFamily="34" charset="0"/>
                <a:ea typeface="Calibri" pitchFamily="34" charset="-122"/>
                <a:cs typeface="Calibri" pitchFamily="34" charset="-120"/>
              </a:rPr>
              <a:t>average monthly spend on tuition per household</a:t>
            </a:r>
            <a:endParaRPr lang="en-US" sz="1100" dirty="0"/>
          </a:p>
        </p:txBody>
      </p:sp>
      <p:sp>
        <p:nvSpPr>
          <p:cNvPr id="9" name="Shape 6"/>
          <p:cNvSpPr/>
          <p:nvPr/>
        </p:nvSpPr>
        <p:spPr>
          <a:xfrm>
            <a:off x="5394960" y="2423160"/>
            <a:ext cx="3246120" cy="960120"/>
          </a:xfrm>
          <a:prstGeom prst="roundRect">
            <a:avLst>
              <a:gd name="adj" fmla="val 7619"/>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10" name="Text 7"/>
          <p:cNvSpPr txBox="1"/>
          <p:nvPr/>
        </p:nvSpPr>
        <p:spPr>
          <a:xfrm>
            <a:off x="5559552" y="2542032"/>
            <a:ext cx="1207008" cy="713232"/>
          </a:xfrm>
          <a:prstGeom prst="rect">
            <a:avLst/>
          </a:prstGeom>
          <a:noFill/>
          <a:ln/>
        </p:spPr>
        <p:txBody>
          <a:bodyPr wrap="square" lIns="0" tIns="0" rIns="0" bIns="0" rtlCol="0" anchor="ctr"/>
          <a:lstStyle/>
          <a:p>
            <a:pPr indent="0" marL="0">
              <a:buNone/>
            </a:pPr>
            <a:r>
              <a:rPr lang="en-US" sz="2800" b="1" dirty="0">
                <a:solidFill>
                  <a:srgbClr val="990011"/>
                </a:solidFill>
                <a:latin typeface="Cambria" pitchFamily="34" charset="0"/>
                <a:ea typeface="Cambria" pitchFamily="34" charset="-122"/>
                <a:cs typeface="Cambria" pitchFamily="34" charset="-120"/>
              </a:rPr>
              <a:t>4×</a:t>
            </a:r>
            <a:endParaRPr lang="en-US" sz="2800" dirty="0"/>
          </a:p>
        </p:txBody>
      </p:sp>
      <p:sp>
        <p:nvSpPr>
          <p:cNvPr id="11" name="Text 8"/>
          <p:cNvSpPr txBox="1"/>
          <p:nvPr/>
        </p:nvSpPr>
        <p:spPr>
          <a:xfrm>
            <a:off x="6766560" y="2542032"/>
            <a:ext cx="1737360" cy="713232"/>
          </a:xfrm>
          <a:prstGeom prst="rect">
            <a:avLst/>
          </a:prstGeom>
          <a:noFill/>
          <a:ln/>
        </p:spPr>
        <p:txBody>
          <a:bodyPr wrap="square" lIns="0" tIns="0" rIns="0" bIns="0" rtlCol="0" anchor="ctr"/>
          <a:lstStyle/>
          <a:p>
            <a:pPr indent="0" marL="0">
              <a:lnSpc>
                <a:spcPct val="110000"/>
              </a:lnSpc>
              <a:buNone/>
            </a:pPr>
            <a:r>
              <a:rPr lang="en-US" sz="1100" dirty="0">
                <a:solidFill>
                  <a:srgbClr val="55545C"/>
                </a:solidFill>
                <a:latin typeface="Calibri" pitchFamily="34" charset="0"/>
                <a:ea typeface="Calibri" pitchFamily="34" charset="-122"/>
                <a:cs typeface="Calibri" pitchFamily="34" charset="-120"/>
              </a:rPr>
              <a:t>what the top income quintile spends relative to the bottom</a:t>
            </a:r>
            <a:endParaRPr lang="en-US" sz="1100" dirty="0"/>
          </a:p>
        </p:txBody>
      </p:sp>
      <p:sp>
        <p:nvSpPr>
          <p:cNvPr id="12" name="Shape 9"/>
          <p:cNvSpPr/>
          <p:nvPr/>
        </p:nvSpPr>
        <p:spPr>
          <a:xfrm>
            <a:off x="5394960" y="3474720"/>
            <a:ext cx="3246120" cy="960120"/>
          </a:xfrm>
          <a:prstGeom prst="roundRect">
            <a:avLst>
              <a:gd name="adj" fmla="val 7619"/>
            </a:avLst>
          </a:prstGeom>
          <a:solidFill>
            <a:srgbClr val="990011"/>
          </a:solidFill>
          <a:ln w="12700">
            <a:solidFill>
              <a:srgbClr val="990011"/>
            </a:solidFill>
            <a:prstDash val="solid"/>
          </a:ln>
          <a:effectLst>
            <a:outerShdw sx="100000" sy="100000" kx="0" ky="0" algn="bl" rotWithShape="0" blurRad="127000" dist="25400" dir="5400000">
              <a:srgbClr val="8A6A6C">
                <a:alpha val="18000"/>
              </a:srgbClr>
            </a:outerShdw>
          </a:effectLst>
        </p:spPr>
      </p:sp>
      <p:sp>
        <p:nvSpPr>
          <p:cNvPr id="13" name="Shape 10"/>
          <p:cNvSpPr/>
          <p:nvPr/>
        </p:nvSpPr>
        <p:spPr>
          <a:xfrm>
            <a:off x="5559552" y="3721608"/>
            <a:ext cx="457200" cy="457200"/>
          </a:xfrm>
          <a:prstGeom prst="ellipse">
            <a:avLst/>
          </a:prstGeom>
          <a:solidFill>
            <a:srgbClr val="6E000C"/>
          </a:solidFill>
          <a:ln w="12700">
            <a:solidFill>
              <a:srgbClr val="6E000C"/>
            </a:solidFill>
            <a:prstDash val="solid"/>
          </a:ln>
        </p:spPr>
      </p:sp>
      <p:pic>
        <p:nvPicPr>
          <p:cNvPr id="14" name="Image 0" descr="preencoded.png">    </p:cNvPr>
          <p:cNvPicPr>
            <a:picLocks noChangeAspect="1"/>
          </p:cNvPicPr>
          <p:nvPr/>
        </p:nvPicPr>
        <p:blipFill>
          <a:blip r:embed="rId2"/>
          <a:stretch>
            <a:fillRect/>
          </a:stretch>
        </p:blipFill>
        <p:spPr>
          <a:xfrm>
            <a:off x="5687568" y="3849624"/>
            <a:ext cx="201168" cy="201168"/>
          </a:xfrm>
          <a:prstGeom prst="rect">
            <a:avLst/>
          </a:prstGeom>
        </p:spPr>
      </p:pic>
      <p:sp>
        <p:nvSpPr>
          <p:cNvPr id="15" name="Text 11"/>
          <p:cNvSpPr txBox="1"/>
          <p:nvPr/>
        </p:nvSpPr>
        <p:spPr>
          <a:xfrm>
            <a:off x="6144768" y="3593592"/>
            <a:ext cx="2359152" cy="722376"/>
          </a:xfrm>
          <a:prstGeom prst="rect">
            <a:avLst/>
          </a:prstGeom>
          <a:noFill/>
          <a:ln/>
        </p:spPr>
        <p:txBody>
          <a:bodyPr wrap="square" lIns="0" tIns="0" rIns="0" bIns="0"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More tuition and enrichment centres than there are schools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6F5"/>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990011"/>
          </a:solidFill>
          <a:ln w="12700">
            <a:solidFill>
              <a:srgbClr val="990011"/>
            </a:solidFill>
            <a:prstDash val="solid"/>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01</a:t>
            </a:r>
            <a:endParaRPr lang="en-US" sz="1900" dirty="0"/>
          </a:p>
        </p:txBody>
      </p:sp>
      <p:sp>
        <p:nvSpPr>
          <p:cNvPr id="4" name="Text 2"/>
          <p:cNvSpPr txBox="1"/>
          <p:nvPr/>
        </p:nvSpPr>
        <p:spPr>
          <a:xfrm>
            <a:off x="1207008" y="411480"/>
            <a:ext cx="7434072" cy="566928"/>
          </a:xfrm>
          <a:prstGeom prst="rect">
            <a:avLst/>
          </a:prstGeom>
          <a:noFill/>
          <a:ln/>
        </p:spPr>
        <p:txBody>
          <a:bodyPr wrap="square" lIns="0" tIns="0" rIns="0" bIns="0" rtlCol="0" anchor="ctr"/>
          <a:lstStyle/>
          <a:p>
            <a:pPr indent="0" marL="0">
              <a:buNone/>
            </a:pPr>
            <a:r>
              <a:rPr lang="en-US" sz="2800" b="1" dirty="0">
                <a:solidFill>
                  <a:srgbClr val="2F3C7E"/>
                </a:solidFill>
                <a:latin typeface="Cambria" pitchFamily="34" charset="0"/>
                <a:ea typeface="Cambria" pitchFamily="34" charset="-122"/>
                <a:cs typeface="Cambria" pitchFamily="34" charset="-120"/>
              </a:rPr>
              <a:t>Tuition here is not remediation</a:t>
            </a:r>
            <a:endParaRPr lang="en-US" sz="2800" dirty="0"/>
          </a:p>
        </p:txBody>
      </p:sp>
      <p:sp>
        <p:nvSpPr>
          <p:cNvPr id="5" name="Shape 3"/>
          <p:cNvSpPr/>
          <p:nvPr/>
        </p:nvSpPr>
        <p:spPr>
          <a:xfrm>
            <a:off x="502920" y="1234440"/>
            <a:ext cx="3886200" cy="2103120"/>
          </a:xfrm>
          <a:prstGeom prst="roundRect">
            <a:avLst>
              <a:gd name="adj" fmla="val 3478"/>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6" name="Shape 4"/>
          <p:cNvSpPr/>
          <p:nvPr/>
        </p:nvSpPr>
        <p:spPr>
          <a:xfrm>
            <a:off x="758952" y="1472184"/>
            <a:ext cx="457200" cy="457200"/>
          </a:xfrm>
          <a:prstGeom prst="ellipse">
            <a:avLst/>
          </a:prstGeom>
          <a:solidFill>
            <a:srgbClr val="2F3C7E"/>
          </a:solidFill>
          <a:ln w="12700">
            <a:solidFill>
              <a:srgbClr val="2F3C7E"/>
            </a:solidFill>
            <a:prstDash val="solid"/>
          </a:ln>
        </p:spPr>
      </p:sp>
      <p:pic>
        <p:nvPicPr>
          <p:cNvPr id="7" name="Image 0" descr="preencoded.png">    </p:cNvPr>
          <p:cNvPicPr>
            <a:picLocks noChangeAspect="1"/>
          </p:cNvPicPr>
          <p:nvPr/>
        </p:nvPicPr>
        <p:blipFill>
          <a:blip r:embed="rId1"/>
          <a:stretch>
            <a:fillRect/>
          </a:stretch>
        </p:blipFill>
        <p:spPr>
          <a:xfrm>
            <a:off x="886968" y="1600200"/>
            <a:ext cx="201168" cy="201168"/>
          </a:xfrm>
          <a:prstGeom prst="rect">
            <a:avLst/>
          </a:prstGeom>
        </p:spPr>
      </p:pic>
      <p:sp>
        <p:nvSpPr>
          <p:cNvPr id="8" name="Text 5"/>
          <p:cNvSpPr txBox="1"/>
          <p:nvPr/>
        </p:nvSpPr>
        <p:spPr>
          <a:xfrm>
            <a:off x="758952" y="2057400"/>
            <a:ext cx="3374136" cy="292608"/>
          </a:xfrm>
          <a:prstGeom prst="rect">
            <a:avLst/>
          </a:prstGeom>
          <a:noFill/>
          <a:ln/>
        </p:spPr>
        <p:txBody>
          <a:bodyPr wrap="square" lIns="0" tIns="0" rIns="0" bIns="0" rtlCol="0" anchor="t"/>
          <a:lstStyle/>
          <a:p>
            <a:pPr indent="0" marL="0">
              <a:buNone/>
            </a:pPr>
            <a:r>
              <a:rPr lang="en-US" sz="1700" b="1" dirty="0">
                <a:solidFill>
                  <a:srgbClr val="2F3C7E"/>
                </a:solidFill>
                <a:latin typeface="Cambria" pitchFamily="34" charset="0"/>
                <a:ea typeface="Cambria" pitchFamily="34" charset="-122"/>
                <a:cs typeface="Cambria" pitchFamily="34" charset="-120"/>
              </a:rPr>
              <a:t>In many systems</a:t>
            </a:r>
            <a:endParaRPr lang="en-US" sz="1700" dirty="0"/>
          </a:p>
        </p:txBody>
      </p:sp>
      <p:sp>
        <p:nvSpPr>
          <p:cNvPr id="9" name="Text 6"/>
          <p:cNvSpPr txBox="1"/>
          <p:nvPr/>
        </p:nvSpPr>
        <p:spPr>
          <a:xfrm>
            <a:off x="758952" y="2423160"/>
            <a:ext cx="3374136" cy="822960"/>
          </a:xfrm>
          <a:prstGeom prst="rect">
            <a:avLst/>
          </a:prstGeom>
          <a:noFill/>
          <a:ln/>
        </p:spPr>
        <p:txBody>
          <a:bodyPr wrap="square" lIns="0" tIns="0" rIns="0" bIns="0" rtlCol="0" anchor="t"/>
          <a:lstStyle/>
          <a:p>
            <a:pPr indent="0" marL="0">
              <a:lnSpc>
                <a:spcPct val="118000"/>
              </a:lnSpc>
              <a:buNone/>
            </a:pPr>
            <a:r>
              <a:rPr lang="en-US" sz="1300" dirty="0">
                <a:solidFill>
                  <a:srgbClr val="55545C"/>
                </a:solidFill>
                <a:latin typeface="Calibri" pitchFamily="34" charset="0"/>
                <a:ea typeface="Calibri" pitchFamily="34" charset="-122"/>
                <a:cs typeface="Calibri" pitchFamily="34" charset="-120"/>
              </a:rPr>
              <a:t>Supplementary lessons target students who are behind. Demand falls as results improve.</a:t>
            </a:r>
            <a:endParaRPr lang="en-US" sz="1300" dirty="0"/>
          </a:p>
        </p:txBody>
      </p:sp>
      <p:sp>
        <p:nvSpPr>
          <p:cNvPr id="10" name="Shape 7"/>
          <p:cNvSpPr/>
          <p:nvPr/>
        </p:nvSpPr>
        <p:spPr>
          <a:xfrm>
            <a:off x="4754880" y="1234440"/>
            <a:ext cx="3886200" cy="2103120"/>
          </a:xfrm>
          <a:prstGeom prst="roundRect">
            <a:avLst>
              <a:gd name="adj" fmla="val 3478"/>
            </a:avLst>
          </a:prstGeom>
          <a:solidFill>
            <a:srgbClr val="990011"/>
          </a:solidFill>
          <a:ln w="12700">
            <a:solidFill>
              <a:srgbClr val="990011"/>
            </a:solidFill>
            <a:prstDash val="solid"/>
          </a:ln>
          <a:effectLst>
            <a:outerShdw sx="100000" sy="100000" kx="0" ky="0" algn="bl" rotWithShape="0" blurRad="127000" dist="25400" dir="5400000">
              <a:srgbClr val="8A6A6C">
                <a:alpha val="18000"/>
              </a:srgbClr>
            </a:outerShdw>
          </a:effectLst>
        </p:spPr>
      </p:sp>
      <p:sp>
        <p:nvSpPr>
          <p:cNvPr id="11" name="Shape 8"/>
          <p:cNvSpPr/>
          <p:nvPr/>
        </p:nvSpPr>
        <p:spPr>
          <a:xfrm>
            <a:off x="5010912" y="1472184"/>
            <a:ext cx="457200" cy="457200"/>
          </a:xfrm>
          <a:prstGeom prst="ellipse">
            <a:avLst/>
          </a:prstGeom>
          <a:solidFill>
            <a:srgbClr val="6E000C"/>
          </a:solidFill>
          <a:ln w="12700">
            <a:solidFill>
              <a:srgbClr val="6E000C"/>
            </a:solidFill>
            <a:prstDash val="solid"/>
          </a:ln>
        </p:spPr>
      </p:sp>
      <p:pic>
        <p:nvPicPr>
          <p:cNvPr id="12" name="Image 1" descr="preencoded.png">    </p:cNvPr>
          <p:cNvPicPr>
            <a:picLocks noChangeAspect="1"/>
          </p:cNvPicPr>
          <p:nvPr/>
        </p:nvPicPr>
        <p:blipFill>
          <a:blip r:embed="rId2"/>
          <a:stretch>
            <a:fillRect/>
          </a:stretch>
        </p:blipFill>
        <p:spPr>
          <a:xfrm>
            <a:off x="5138928" y="1600200"/>
            <a:ext cx="201168" cy="201168"/>
          </a:xfrm>
          <a:prstGeom prst="rect">
            <a:avLst/>
          </a:prstGeom>
        </p:spPr>
      </p:pic>
      <p:sp>
        <p:nvSpPr>
          <p:cNvPr id="13" name="Text 9"/>
          <p:cNvSpPr txBox="1"/>
          <p:nvPr/>
        </p:nvSpPr>
        <p:spPr>
          <a:xfrm>
            <a:off x="5010912" y="2057400"/>
            <a:ext cx="3374136" cy="292608"/>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In Singapore</a:t>
            </a:r>
            <a:endParaRPr lang="en-US" sz="1700" dirty="0"/>
          </a:p>
        </p:txBody>
      </p:sp>
      <p:sp>
        <p:nvSpPr>
          <p:cNvPr id="14" name="Text 10"/>
          <p:cNvSpPr txBox="1"/>
          <p:nvPr/>
        </p:nvSpPr>
        <p:spPr>
          <a:xfrm>
            <a:off x="5010912" y="2423160"/>
            <a:ext cx="3374136" cy="822960"/>
          </a:xfrm>
          <a:prstGeom prst="rect">
            <a:avLst/>
          </a:prstGeom>
          <a:noFill/>
          <a:ln/>
        </p:spPr>
        <p:txBody>
          <a:bodyPr wrap="square" lIns="0" tIns="0" rIns="0" bIns="0" rtlCol="0" anchor="t"/>
          <a:lstStyle/>
          <a:p>
            <a:pPr indent="0" marL="0">
              <a:lnSpc>
                <a:spcPct val="118000"/>
              </a:lnSpc>
              <a:buNone/>
            </a:pPr>
            <a:r>
              <a:rPr lang="en-US" sz="1300" dirty="0">
                <a:solidFill>
                  <a:srgbClr val="FBE9EA"/>
                </a:solidFill>
                <a:latin typeface="Calibri" pitchFamily="34" charset="0"/>
                <a:ea typeface="Calibri" pitchFamily="34" charset="-122"/>
                <a:cs typeface="Calibri" pitchFamily="34" charset="-120"/>
              </a:rPr>
              <a:t>A large share of tuition students already perform well. Lessons are used to work ahead of the syllabus.</a:t>
            </a:r>
            <a:endParaRPr lang="en-US" sz="1300" dirty="0"/>
          </a:p>
        </p:txBody>
      </p:sp>
      <p:sp>
        <p:nvSpPr>
          <p:cNvPr id="15" name="Shape 11"/>
          <p:cNvSpPr/>
          <p:nvPr/>
        </p:nvSpPr>
        <p:spPr>
          <a:xfrm>
            <a:off x="502920" y="3566160"/>
            <a:ext cx="8138160" cy="822960"/>
          </a:xfrm>
          <a:prstGeom prst="roundRect">
            <a:avLst>
              <a:gd name="adj" fmla="val 8889"/>
            </a:avLst>
          </a:prstGeom>
          <a:solidFill>
            <a:srgbClr val="F6E8E9"/>
          </a:solidFill>
          <a:ln w="12700">
            <a:solidFill>
              <a:srgbClr val="EBD3D5"/>
            </a:solidFill>
            <a:prstDash val="solid"/>
          </a:ln>
        </p:spPr>
      </p:sp>
      <p:sp>
        <p:nvSpPr>
          <p:cNvPr id="16" name="Text 12"/>
          <p:cNvSpPr txBox="1"/>
          <p:nvPr/>
        </p:nvSpPr>
        <p:spPr>
          <a:xfrm>
            <a:off x="822960" y="3566160"/>
            <a:ext cx="7498080" cy="822960"/>
          </a:xfrm>
          <a:prstGeom prst="rect">
            <a:avLst/>
          </a:prstGeom>
          <a:noFill/>
          <a:ln/>
        </p:spPr>
        <p:txBody>
          <a:bodyPr wrap="square" lIns="0" tIns="0" rIns="0" bIns="0" rtlCol="0" anchor="ctr"/>
          <a:lstStyle/>
          <a:p>
            <a:pPr indent="0" marL="0">
              <a:buNone/>
            </a:pPr>
            <a:r>
              <a:rPr lang="en-US" sz="1800" i="1" dirty="0">
                <a:solidFill>
                  <a:srgbClr val="2F3C7E"/>
                </a:solidFill>
                <a:latin typeface="Cambria" pitchFamily="34" charset="0"/>
                <a:ea typeface="Cambria" pitchFamily="34" charset="-122"/>
                <a:cs typeface="Cambria" pitchFamily="34" charset="-120"/>
              </a:rPr>
              <a:t>Demand therefore does not fall when results improve.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6F5"/>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990011"/>
          </a:solidFill>
          <a:ln w="12700">
            <a:solidFill>
              <a:srgbClr val="990011"/>
            </a:solidFill>
            <a:prstDash val="solid"/>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02</a:t>
            </a:r>
            <a:endParaRPr lang="en-US" sz="1900" dirty="0"/>
          </a:p>
        </p:txBody>
      </p:sp>
      <p:sp>
        <p:nvSpPr>
          <p:cNvPr id="4" name="Text 2"/>
          <p:cNvSpPr txBox="1"/>
          <p:nvPr/>
        </p:nvSpPr>
        <p:spPr>
          <a:xfrm>
            <a:off x="1207008" y="411480"/>
            <a:ext cx="7434072" cy="566928"/>
          </a:xfrm>
          <a:prstGeom prst="rect">
            <a:avLst/>
          </a:prstGeom>
          <a:noFill/>
          <a:ln/>
        </p:spPr>
        <p:txBody>
          <a:bodyPr wrap="square" lIns="0" tIns="0" rIns="0" bIns="0" rtlCol="0" anchor="ctr"/>
          <a:lstStyle/>
          <a:p>
            <a:pPr indent="0" marL="0">
              <a:buNone/>
            </a:pPr>
            <a:r>
              <a:rPr lang="en-US" sz="2800" b="1" dirty="0">
                <a:solidFill>
                  <a:srgbClr val="2F3C7E"/>
                </a:solidFill>
                <a:latin typeface="Cambria" pitchFamily="34" charset="0"/>
                <a:ea typeface="Cambria" pitchFamily="34" charset="-122"/>
                <a:cs typeface="Cambria" pitchFamily="34" charset="-120"/>
              </a:rPr>
              <a:t>Education as the route to mobility</a:t>
            </a:r>
            <a:endParaRPr lang="en-US" sz="2800" dirty="0"/>
          </a:p>
        </p:txBody>
      </p:sp>
      <p:sp>
        <p:nvSpPr>
          <p:cNvPr id="5" name="Shape 3"/>
          <p:cNvSpPr/>
          <p:nvPr/>
        </p:nvSpPr>
        <p:spPr>
          <a:xfrm>
            <a:off x="502920" y="1280160"/>
            <a:ext cx="2560320" cy="2194560"/>
          </a:xfrm>
          <a:prstGeom prst="roundRect">
            <a:avLst>
              <a:gd name="adj" fmla="val 3333"/>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6" name="Shape 4"/>
          <p:cNvSpPr/>
          <p:nvPr/>
        </p:nvSpPr>
        <p:spPr>
          <a:xfrm>
            <a:off x="740664" y="1499616"/>
            <a:ext cx="457200" cy="457200"/>
          </a:xfrm>
          <a:prstGeom prst="ellipse">
            <a:avLst/>
          </a:prstGeom>
          <a:solidFill>
            <a:srgbClr val="990011"/>
          </a:solidFill>
          <a:ln w="12700">
            <a:solidFill>
              <a:srgbClr val="990011"/>
            </a:solidFill>
            <a:prstDash val="solid"/>
          </a:ln>
        </p:spPr>
      </p:sp>
      <p:pic>
        <p:nvPicPr>
          <p:cNvPr id="7" name="Image 0" descr="preencoded.png">    </p:cNvPr>
          <p:cNvPicPr>
            <a:picLocks noChangeAspect="1"/>
          </p:cNvPicPr>
          <p:nvPr/>
        </p:nvPicPr>
        <p:blipFill>
          <a:blip r:embed="rId1"/>
          <a:stretch>
            <a:fillRect/>
          </a:stretch>
        </p:blipFill>
        <p:spPr>
          <a:xfrm>
            <a:off x="868680" y="1627632"/>
            <a:ext cx="201168" cy="201168"/>
          </a:xfrm>
          <a:prstGeom prst="rect">
            <a:avLst/>
          </a:prstGeom>
        </p:spPr>
      </p:pic>
      <p:sp>
        <p:nvSpPr>
          <p:cNvPr id="8" name="Text 5"/>
          <p:cNvSpPr txBox="1"/>
          <p:nvPr/>
        </p:nvSpPr>
        <p:spPr>
          <a:xfrm>
            <a:off x="740664" y="2066544"/>
            <a:ext cx="2084832" cy="475488"/>
          </a:xfrm>
          <a:prstGeom prst="rect">
            <a:avLst/>
          </a:prstGeom>
          <a:noFill/>
          <a:ln/>
        </p:spPr>
        <p:txBody>
          <a:bodyPr wrap="square" lIns="0" tIns="0" rIns="0" bIns="0" rtlCol="0" anchor="t"/>
          <a:lstStyle/>
          <a:p>
            <a:pPr indent="0" marL="0">
              <a:lnSpc>
                <a:spcPct val="100000"/>
              </a:lnSpc>
              <a:buNone/>
            </a:pPr>
            <a:r>
              <a:rPr lang="en-US" sz="1600" b="1" dirty="0">
                <a:solidFill>
                  <a:srgbClr val="2F3C7E"/>
                </a:solidFill>
                <a:latin typeface="Cambria" pitchFamily="34" charset="0"/>
                <a:ea typeface="Cambria" pitchFamily="34" charset="-122"/>
                <a:cs typeface="Cambria" pitchFamily="34" charset="-120"/>
              </a:rPr>
              <a:t>No natural resources</a:t>
            </a:r>
            <a:endParaRPr lang="en-US" sz="1600" dirty="0"/>
          </a:p>
        </p:txBody>
      </p:sp>
      <p:sp>
        <p:nvSpPr>
          <p:cNvPr id="9" name="Text 6"/>
          <p:cNvSpPr txBox="1"/>
          <p:nvPr/>
        </p:nvSpPr>
        <p:spPr>
          <a:xfrm>
            <a:off x="740664" y="2578608"/>
            <a:ext cx="2084832" cy="841248"/>
          </a:xfrm>
          <a:prstGeom prst="rect">
            <a:avLst/>
          </a:prstGeom>
          <a:noFill/>
          <a:ln/>
        </p:spPr>
        <p:txBody>
          <a:bodyPr wrap="square" lIns="0" tIns="0" rIns="0" bIns="0" rtlCol="0" anchor="t"/>
          <a:lstStyle/>
          <a:p>
            <a:pPr indent="0" marL="0">
              <a:lnSpc>
                <a:spcPct val="115000"/>
              </a:lnSpc>
              <a:buNone/>
            </a:pPr>
            <a:r>
              <a:rPr lang="en-US" sz="1250" dirty="0">
                <a:solidFill>
                  <a:srgbClr val="55545C"/>
                </a:solidFill>
                <a:latin typeface="Calibri" pitchFamily="34" charset="0"/>
                <a:ea typeface="Calibri" pitchFamily="34" charset="-122"/>
                <a:cs typeface="Calibri" pitchFamily="34" charset="-120"/>
              </a:rPr>
              <a:t>A small nation whose only usable asset was the capability of its people.</a:t>
            </a:r>
            <a:endParaRPr lang="en-US" sz="1250" dirty="0"/>
          </a:p>
        </p:txBody>
      </p:sp>
      <p:sp>
        <p:nvSpPr>
          <p:cNvPr id="10" name="Text 7"/>
          <p:cNvSpPr txBox="1"/>
          <p:nvPr/>
        </p:nvSpPr>
        <p:spPr>
          <a:xfrm>
            <a:off x="3072384" y="2057400"/>
            <a:ext cx="210312" cy="365760"/>
          </a:xfrm>
          <a:prstGeom prst="rect">
            <a:avLst/>
          </a:prstGeom>
          <a:noFill/>
          <a:ln/>
        </p:spPr>
        <p:txBody>
          <a:bodyPr wrap="square" lIns="0" tIns="0" rIns="0" bIns="0" rtlCol="0" anchor="ctr"/>
          <a:lstStyle/>
          <a:p>
            <a:pPr algn="ctr" indent="0" marL="0">
              <a:buNone/>
            </a:pPr>
            <a:r>
              <a:rPr lang="en-US" sz="1800" b="1" dirty="0">
                <a:solidFill>
                  <a:srgbClr val="990011"/>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3291840" y="1280160"/>
            <a:ext cx="2560320" cy="2194560"/>
          </a:xfrm>
          <a:prstGeom prst="roundRect">
            <a:avLst>
              <a:gd name="adj" fmla="val 3333"/>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12" name="Shape 9"/>
          <p:cNvSpPr/>
          <p:nvPr/>
        </p:nvSpPr>
        <p:spPr>
          <a:xfrm>
            <a:off x="3529584" y="1499616"/>
            <a:ext cx="457200" cy="457200"/>
          </a:xfrm>
          <a:prstGeom prst="ellipse">
            <a:avLst/>
          </a:prstGeom>
          <a:solidFill>
            <a:srgbClr val="990011"/>
          </a:solidFill>
          <a:ln w="12700">
            <a:solidFill>
              <a:srgbClr val="990011"/>
            </a:solidFill>
            <a:prstDash val="solid"/>
          </a:ln>
        </p:spPr>
      </p:sp>
      <p:pic>
        <p:nvPicPr>
          <p:cNvPr id="13" name="Image 1" descr="preencoded.png">    </p:cNvPr>
          <p:cNvPicPr>
            <a:picLocks noChangeAspect="1"/>
          </p:cNvPicPr>
          <p:nvPr/>
        </p:nvPicPr>
        <p:blipFill>
          <a:blip r:embed="rId2"/>
          <a:stretch>
            <a:fillRect/>
          </a:stretch>
        </p:blipFill>
        <p:spPr>
          <a:xfrm>
            <a:off x="3657600" y="1627632"/>
            <a:ext cx="201168" cy="201168"/>
          </a:xfrm>
          <a:prstGeom prst="rect">
            <a:avLst/>
          </a:prstGeom>
        </p:spPr>
      </p:pic>
      <p:sp>
        <p:nvSpPr>
          <p:cNvPr id="14" name="Text 10"/>
          <p:cNvSpPr txBox="1"/>
          <p:nvPr/>
        </p:nvSpPr>
        <p:spPr>
          <a:xfrm>
            <a:off x="3529584" y="2066544"/>
            <a:ext cx="2084832" cy="475488"/>
          </a:xfrm>
          <a:prstGeom prst="rect">
            <a:avLst/>
          </a:prstGeom>
          <a:noFill/>
          <a:ln/>
        </p:spPr>
        <p:txBody>
          <a:bodyPr wrap="square" lIns="0" tIns="0" rIns="0" bIns="0" rtlCol="0" anchor="t"/>
          <a:lstStyle/>
          <a:p>
            <a:pPr indent="0" marL="0">
              <a:lnSpc>
                <a:spcPct val="100000"/>
              </a:lnSpc>
              <a:buNone/>
            </a:pPr>
            <a:r>
              <a:rPr lang="en-US" sz="1600" b="1" dirty="0">
                <a:solidFill>
                  <a:srgbClr val="2F3C7E"/>
                </a:solidFill>
                <a:latin typeface="Cambria" pitchFamily="34" charset="0"/>
                <a:ea typeface="Cambria" pitchFamily="34" charset="-122"/>
                <a:cs typeface="Cambria" pitchFamily="34" charset="-120"/>
              </a:rPr>
              <a:t>A deliberate mechanism</a:t>
            </a:r>
            <a:endParaRPr lang="en-US" sz="1600" dirty="0"/>
          </a:p>
        </p:txBody>
      </p:sp>
      <p:sp>
        <p:nvSpPr>
          <p:cNvPr id="15" name="Text 11"/>
          <p:cNvSpPr txBox="1"/>
          <p:nvPr/>
        </p:nvSpPr>
        <p:spPr>
          <a:xfrm>
            <a:off x="3529584" y="2578608"/>
            <a:ext cx="2084832" cy="841248"/>
          </a:xfrm>
          <a:prstGeom prst="rect">
            <a:avLst/>
          </a:prstGeom>
          <a:noFill/>
          <a:ln/>
        </p:spPr>
        <p:txBody>
          <a:bodyPr wrap="square" lIns="0" tIns="0" rIns="0" bIns="0" rtlCol="0" anchor="t"/>
          <a:lstStyle/>
          <a:p>
            <a:pPr indent="0" marL="0">
              <a:lnSpc>
                <a:spcPct val="115000"/>
              </a:lnSpc>
              <a:buNone/>
            </a:pPr>
            <a:r>
              <a:rPr lang="en-US" sz="1250" dirty="0">
                <a:solidFill>
                  <a:srgbClr val="55545C"/>
                </a:solidFill>
                <a:latin typeface="Calibri" pitchFamily="34" charset="0"/>
                <a:ea typeface="Calibri" pitchFamily="34" charset="-122"/>
                <a:cs typeface="Calibri" pitchFamily="34" charset="-120"/>
              </a:rPr>
              <a:t>Education was positioned as the main route to social mobility.</a:t>
            </a:r>
            <a:endParaRPr lang="en-US" sz="1250" dirty="0"/>
          </a:p>
        </p:txBody>
      </p:sp>
      <p:sp>
        <p:nvSpPr>
          <p:cNvPr id="16" name="Text 12"/>
          <p:cNvSpPr txBox="1"/>
          <p:nvPr/>
        </p:nvSpPr>
        <p:spPr>
          <a:xfrm>
            <a:off x="5861304" y="2057400"/>
            <a:ext cx="210312" cy="365760"/>
          </a:xfrm>
          <a:prstGeom prst="rect">
            <a:avLst/>
          </a:prstGeom>
          <a:noFill/>
          <a:ln/>
        </p:spPr>
        <p:txBody>
          <a:bodyPr wrap="square" lIns="0" tIns="0" rIns="0" bIns="0" rtlCol="0" anchor="ctr"/>
          <a:lstStyle/>
          <a:p>
            <a:pPr algn="ctr" indent="0" marL="0">
              <a:buNone/>
            </a:pPr>
            <a:r>
              <a:rPr lang="en-US" sz="1800" b="1" dirty="0">
                <a:solidFill>
                  <a:srgbClr val="990011"/>
                </a:solidFill>
                <a:latin typeface="Calibri" pitchFamily="34" charset="0"/>
                <a:ea typeface="Calibri" pitchFamily="34" charset="-122"/>
                <a:cs typeface="Calibri" pitchFamily="34" charset="-120"/>
              </a:rPr>
              <a:t>→</a:t>
            </a:r>
            <a:endParaRPr lang="en-US" sz="1800" dirty="0"/>
          </a:p>
        </p:txBody>
      </p:sp>
      <p:sp>
        <p:nvSpPr>
          <p:cNvPr id="17" name="Shape 13"/>
          <p:cNvSpPr/>
          <p:nvPr/>
        </p:nvSpPr>
        <p:spPr>
          <a:xfrm>
            <a:off x="6080760" y="1280160"/>
            <a:ext cx="2560320" cy="2194560"/>
          </a:xfrm>
          <a:prstGeom prst="roundRect">
            <a:avLst>
              <a:gd name="adj" fmla="val 3333"/>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18" name="Shape 14"/>
          <p:cNvSpPr/>
          <p:nvPr/>
        </p:nvSpPr>
        <p:spPr>
          <a:xfrm>
            <a:off x="6318504" y="1499616"/>
            <a:ext cx="457200" cy="457200"/>
          </a:xfrm>
          <a:prstGeom prst="ellipse">
            <a:avLst/>
          </a:prstGeom>
          <a:solidFill>
            <a:srgbClr val="990011"/>
          </a:solidFill>
          <a:ln w="12700">
            <a:solidFill>
              <a:srgbClr val="990011"/>
            </a:solidFill>
            <a:prstDash val="solid"/>
          </a:ln>
        </p:spPr>
      </p:sp>
      <p:pic>
        <p:nvPicPr>
          <p:cNvPr id="19" name="Image 2" descr="preencoded.png">    </p:cNvPr>
          <p:cNvPicPr>
            <a:picLocks noChangeAspect="1"/>
          </p:cNvPicPr>
          <p:nvPr/>
        </p:nvPicPr>
        <p:blipFill>
          <a:blip r:embed="rId3"/>
          <a:stretch>
            <a:fillRect/>
          </a:stretch>
        </p:blipFill>
        <p:spPr>
          <a:xfrm>
            <a:off x="6446520" y="1627632"/>
            <a:ext cx="201168" cy="201168"/>
          </a:xfrm>
          <a:prstGeom prst="rect">
            <a:avLst/>
          </a:prstGeom>
        </p:spPr>
      </p:pic>
      <p:sp>
        <p:nvSpPr>
          <p:cNvPr id="20" name="Text 15"/>
          <p:cNvSpPr txBox="1"/>
          <p:nvPr/>
        </p:nvSpPr>
        <p:spPr>
          <a:xfrm>
            <a:off x="6318504" y="2066544"/>
            <a:ext cx="2084832" cy="475488"/>
          </a:xfrm>
          <a:prstGeom prst="rect">
            <a:avLst/>
          </a:prstGeom>
          <a:noFill/>
          <a:ln/>
        </p:spPr>
        <p:txBody>
          <a:bodyPr wrap="square" lIns="0" tIns="0" rIns="0" bIns="0" rtlCol="0" anchor="t"/>
          <a:lstStyle/>
          <a:p>
            <a:pPr indent="0" marL="0">
              <a:lnSpc>
                <a:spcPct val="100000"/>
              </a:lnSpc>
              <a:buNone/>
            </a:pPr>
            <a:r>
              <a:rPr lang="en-US" sz="1600" b="1" dirty="0">
                <a:solidFill>
                  <a:srgbClr val="2F3C7E"/>
                </a:solidFill>
                <a:latin typeface="Cambria" pitchFamily="34" charset="0"/>
                <a:ea typeface="Cambria" pitchFamily="34" charset="-122"/>
                <a:cs typeface="Cambria" pitchFamily="34" charset="-120"/>
              </a:rPr>
              <a:t>A visible payoff</a:t>
            </a:r>
            <a:endParaRPr lang="en-US" sz="1600" dirty="0"/>
          </a:p>
        </p:txBody>
      </p:sp>
      <p:sp>
        <p:nvSpPr>
          <p:cNvPr id="21" name="Text 16"/>
          <p:cNvSpPr txBox="1"/>
          <p:nvPr/>
        </p:nvSpPr>
        <p:spPr>
          <a:xfrm>
            <a:off x="6318504" y="2578608"/>
            <a:ext cx="2084832" cy="841248"/>
          </a:xfrm>
          <a:prstGeom prst="rect">
            <a:avLst/>
          </a:prstGeom>
          <a:noFill/>
          <a:ln/>
        </p:spPr>
        <p:txBody>
          <a:bodyPr wrap="square" lIns="0" tIns="0" rIns="0" bIns="0" rtlCol="0" anchor="t"/>
          <a:lstStyle/>
          <a:p>
            <a:pPr indent="0" marL="0">
              <a:lnSpc>
                <a:spcPct val="115000"/>
              </a:lnSpc>
              <a:buNone/>
            </a:pPr>
            <a:r>
              <a:rPr lang="en-US" sz="1250" dirty="0">
                <a:solidFill>
                  <a:srgbClr val="55545C"/>
                </a:solidFill>
                <a:latin typeface="Calibri" pitchFamily="34" charset="0"/>
                <a:ea typeface="Calibri" pitchFamily="34" charset="-122"/>
                <a:cs typeface="Calibri" pitchFamily="34" charset="-120"/>
              </a:rPr>
              <a:t>In the early decades the link between exams and employment was direct.</a:t>
            </a:r>
            <a:endParaRPr lang="en-US" sz="1250" dirty="0"/>
          </a:p>
        </p:txBody>
      </p:sp>
      <p:sp>
        <p:nvSpPr>
          <p:cNvPr id="22" name="Shape 17"/>
          <p:cNvSpPr/>
          <p:nvPr/>
        </p:nvSpPr>
        <p:spPr>
          <a:xfrm>
            <a:off x="502920" y="3611880"/>
            <a:ext cx="8138160" cy="822960"/>
          </a:xfrm>
          <a:prstGeom prst="roundRect">
            <a:avLst>
              <a:gd name="adj" fmla="val 8889"/>
            </a:avLst>
          </a:prstGeom>
          <a:solidFill>
            <a:srgbClr val="F6E8E9"/>
          </a:solidFill>
          <a:ln w="12700">
            <a:solidFill>
              <a:srgbClr val="EBD3D5"/>
            </a:solidFill>
            <a:prstDash val="solid"/>
          </a:ln>
        </p:spPr>
      </p:sp>
      <p:sp>
        <p:nvSpPr>
          <p:cNvPr id="23" name="Text 18"/>
          <p:cNvSpPr txBox="1"/>
          <p:nvPr/>
        </p:nvSpPr>
        <p:spPr>
          <a:xfrm>
            <a:off x="822960" y="3611880"/>
            <a:ext cx="7498080" cy="822960"/>
          </a:xfrm>
          <a:prstGeom prst="rect">
            <a:avLst/>
          </a:prstGeom>
          <a:noFill/>
          <a:ln/>
        </p:spPr>
        <p:txBody>
          <a:bodyPr wrap="square" lIns="0" tIns="0" rIns="0" bIns="0" rtlCol="0" anchor="ctr"/>
          <a:lstStyle/>
          <a:p>
            <a:pPr indent="0" marL="0">
              <a:buNone/>
            </a:pPr>
            <a:r>
              <a:rPr lang="en-US" sz="1800" i="1" dirty="0">
                <a:solidFill>
                  <a:srgbClr val="2F3C7E"/>
                </a:solidFill>
                <a:latin typeface="Cambria" pitchFamily="34" charset="0"/>
                <a:ea typeface="Cambria" pitchFamily="34" charset="-122"/>
                <a:cs typeface="Cambria" pitchFamily="34" charset="-120"/>
              </a:rPr>
              <a:t>The expectation persisted after the economic conditions changed.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6F5"/>
        </a:solidFill>
      </p:bgPr>
    </p:bg>
    <p:spTree>
      <p:nvGrpSpPr>
        <p:cNvPr id="1" name=""/>
        <p:cNvGrpSpPr/>
        <p:nvPr/>
      </p:nvGrpSpPr>
      <p:grpSpPr>
        <a:xfrm>
          <a:off x="0" y="0"/>
          <a:ext cx="0" cy="0"/>
          <a:chOff x="0" y="0"/>
          <a:chExt cx="0" cy="0"/>
        </a:xfrm>
      </p:grpSpPr>
      <p:sp>
        <p:nvSpPr>
          <p:cNvPr id="2" name="Shape 0"/>
          <p:cNvSpPr/>
          <p:nvPr/>
        </p:nvSpPr>
        <p:spPr>
          <a:xfrm>
            <a:off x="502920" y="411480"/>
            <a:ext cx="566928" cy="566928"/>
          </a:xfrm>
          <a:prstGeom prst="ellipse">
            <a:avLst/>
          </a:prstGeom>
          <a:solidFill>
            <a:srgbClr val="990011"/>
          </a:solidFill>
          <a:ln w="12700">
            <a:solidFill>
              <a:srgbClr val="990011"/>
            </a:solidFill>
            <a:prstDash val="solid"/>
          </a:ln>
        </p:spPr>
      </p:sp>
      <p:sp>
        <p:nvSpPr>
          <p:cNvPr id="3" name="Text 1"/>
          <p:cNvSpPr txBox="1"/>
          <p:nvPr/>
        </p:nvSpPr>
        <p:spPr>
          <a:xfrm>
            <a:off x="502920" y="4114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03</a:t>
            </a:r>
            <a:endParaRPr lang="en-US" sz="1900" dirty="0"/>
          </a:p>
        </p:txBody>
      </p:sp>
      <p:sp>
        <p:nvSpPr>
          <p:cNvPr id="4" name="Text 2"/>
          <p:cNvSpPr txBox="1"/>
          <p:nvPr/>
        </p:nvSpPr>
        <p:spPr>
          <a:xfrm>
            <a:off x="1207008" y="411480"/>
            <a:ext cx="7434072" cy="566928"/>
          </a:xfrm>
          <a:prstGeom prst="rect">
            <a:avLst/>
          </a:prstGeom>
          <a:noFill/>
          <a:ln/>
        </p:spPr>
        <p:txBody>
          <a:bodyPr wrap="square" lIns="0" tIns="0" rIns="0" bIns="0" rtlCol="0" anchor="ctr"/>
          <a:lstStyle/>
          <a:p>
            <a:pPr indent="0" marL="0">
              <a:buNone/>
            </a:pPr>
            <a:r>
              <a:rPr lang="en-US" sz="2800" b="1" dirty="0">
                <a:solidFill>
                  <a:srgbClr val="2F3C7E"/>
                </a:solidFill>
                <a:latin typeface="Cambria" pitchFamily="34" charset="0"/>
                <a:ea typeface="Cambria" pitchFamily="34" charset="-122"/>
                <a:cs typeface="Cambria" pitchFamily="34" charset="-120"/>
              </a:rPr>
              <a:t>Policy moved, practice did not</a:t>
            </a:r>
            <a:endParaRPr lang="en-US" sz="2800" dirty="0"/>
          </a:p>
        </p:txBody>
      </p:sp>
      <p:sp>
        <p:nvSpPr>
          <p:cNvPr id="5" name="Text 3"/>
          <p:cNvSpPr txBox="1"/>
          <p:nvPr/>
        </p:nvSpPr>
        <p:spPr>
          <a:xfrm>
            <a:off x="502920" y="1078992"/>
            <a:ext cx="4572000" cy="274320"/>
          </a:xfrm>
          <a:prstGeom prst="rect">
            <a:avLst/>
          </a:prstGeom>
          <a:noFill/>
          <a:ln/>
        </p:spPr>
        <p:txBody>
          <a:bodyPr wrap="square" lIns="0" tIns="0" rIns="0" bIns="0" rtlCol="0" anchor="ctr"/>
          <a:lstStyle/>
          <a:p>
            <a:pPr indent="0" marL="0">
              <a:buNone/>
            </a:pPr>
            <a:r>
              <a:rPr lang="en-US" sz="1200" b="1" spc="120" kern="0" dirty="0">
                <a:solidFill>
                  <a:srgbClr val="990011"/>
                </a:solidFill>
                <a:latin typeface="Calibri" pitchFamily="34" charset="0"/>
                <a:ea typeface="Calibri" pitchFamily="34" charset="-122"/>
                <a:cs typeface="Calibri" pitchFamily="34" charset="-120"/>
              </a:rPr>
              <a:t>What the system removed</a:t>
            </a:r>
            <a:endParaRPr lang="en-US" sz="1200" dirty="0"/>
          </a:p>
        </p:txBody>
      </p:sp>
      <p:sp>
        <p:nvSpPr>
          <p:cNvPr id="6" name="Shape 4"/>
          <p:cNvSpPr/>
          <p:nvPr/>
        </p:nvSpPr>
        <p:spPr>
          <a:xfrm>
            <a:off x="502920" y="1444752"/>
            <a:ext cx="4572000" cy="658368"/>
          </a:xfrm>
          <a:prstGeom prst="roundRect">
            <a:avLst>
              <a:gd name="adj" fmla="val 11111"/>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7" name="Shape 5"/>
          <p:cNvSpPr/>
          <p:nvPr/>
        </p:nvSpPr>
        <p:spPr>
          <a:xfrm>
            <a:off x="685800" y="1591056"/>
            <a:ext cx="365760" cy="365760"/>
          </a:xfrm>
          <a:prstGeom prst="ellipse">
            <a:avLst/>
          </a:prstGeom>
          <a:solidFill>
            <a:srgbClr val="2F3C7E"/>
          </a:solidFill>
          <a:ln w="12700">
            <a:solidFill>
              <a:srgbClr val="2F3C7E"/>
            </a:solidFill>
            <a:prstDash val="solid"/>
          </a:ln>
        </p:spPr>
      </p:sp>
      <p:pic>
        <p:nvPicPr>
          <p:cNvPr id="8" name="Image 0" descr="preencoded.png">    </p:cNvPr>
          <p:cNvPicPr>
            <a:picLocks noChangeAspect="1"/>
          </p:cNvPicPr>
          <p:nvPr/>
        </p:nvPicPr>
        <p:blipFill>
          <a:blip r:embed="rId1"/>
          <a:stretch>
            <a:fillRect/>
          </a:stretch>
        </p:blipFill>
        <p:spPr>
          <a:xfrm>
            <a:off x="788213" y="1693469"/>
            <a:ext cx="160934" cy="160934"/>
          </a:xfrm>
          <a:prstGeom prst="rect">
            <a:avLst/>
          </a:prstGeom>
        </p:spPr>
      </p:pic>
      <p:sp>
        <p:nvSpPr>
          <p:cNvPr id="9" name="Text 6"/>
          <p:cNvSpPr txBox="1"/>
          <p:nvPr/>
        </p:nvSpPr>
        <p:spPr>
          <a:xfrm>
            <a:off x="1161288" y="1444752"/>
            <a:ext cx="3749040" cy="658368"/>
          </a:xfrm>
          <a:prstGeom prst="rect">
            <a:avLst/>
          </a:prstGeom>
          <a:noFill/>
          <a:ln/>
        </p:spPr>
        <p:txBody>
          <a:bodyPr wrap="square" lIns="0" tIns="0" rIns="0" bIns="0" rtlCol="0" anchor="ctr"/>
          <a:lstStyle/>
          <a:p>
            <a:pPr indent="0" marL="0">
              <a:lnSpc>
                <a:spcPct val="110000"/>
              </a:lnSpc>
              <a:buNone/>
            </a:pPr>
            <a:r>
              <a:rPr lang="en-US" sz="1300" dirty="0">
                <a:solidFill>
                  <a:srgbClr val="55545C"/>
                </a:solidFill>
                <a:latin typeface="Calibri" pitchFamily="34" charset="0"/>
                <a:ea typeface="Calibri" pitchFamily="34" charset="-122"/>
                <a:cs typeface="Calibri" pitchFamily="34" charset="-120"/>
              </a:rPr>
              <a:t>Mid-year examinations removed at all levels</a:t>
            </a:r>
            <a:endParaRPr lang="en-US" sz="1300" dirty="0"/>
          </a:p>
        </p:txBody>
      </p:sp>
      <p:sp>
        <p:nvSpPr>
          <p:cNvPr id="10" name="Shape 7"/>
          <p:cNvSpPr/>
          <p:nvPr/>
        </p:nvSpPr>
        <p:spPr>
          <a:xfrm>
            <a:off x="502920" y="2185416"/>
            <a:ext cx="4572000" cy="658368"/>
          </a:xfrm>
          <a:prstGeom prst="roundRect">
            <a:avLst>
              <a:gd name="adj" fmla="val 11111"/>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11" name="Shape 8"/>
          <p:cNvSpPr/>
          <p:nvPr/>
        </p:nvSpPr>
        <p:spPr>
          <a:xfrm>
            <a:off x="685800" y="2331720"/>
            <a:ext cx="365760" cy="365760"/>
          </a:xfrm>
          <a:prstGeom prst="ellipse">
            <a:avLst/>
          </a:prstGeom>
          <a:solidFill>
            <a:srgbClr val="2F3C7E"/>
          </a:solidFill>
          <a:ln w="12700">
            <a:solidFill>
              <a:srgbClr val="2F3C7E"/>
            </a:solidFill>
            <a:prstDash val="solid"/>
          </a:ln>
        </p:spPr>
      </p:sp>
      <p:pic>
        <p:nvPicPr>
          <p:cNvPr id="12" name="Image 1" descr="preencoded.png">    </p:cNvPr>
          <p:cNvPicPr>
            <a:picLocks noChangeAspect="1"/>
          </p:cNvPicPr>
          <p:nvPr/>
        </p:nvPicPr>
        <p:blipFill>
          <a:blip r:embed="rId2"/>
          <a:stretch>
            <a:fillRect/>
          </a:stretch>
        </p:blipFill>
        <p:spPr>
          <a:xfrm>
            <a:off x="788213" y="2434133"/>
            <a:ext cx="160934" cy="160934"/>
          </a:xfrm>
          <a:prstGeom prst="rect">
            <a:avLst/>
          </a:prstGeom>
        </p:spPr>
      </p:pic>
      <p:sp>
        <p:nvSpPr>
          <p:cNvPr id="13" name="Text 9"/>
          <p:cNvSpPr txBox="1"/>
          <p:nvPr/>
        </p:nvSpPr>
        <p:spPr>
          <a:xfrm>
            <a:off x="1161288" y="2185416"/>
            <a:ext cx="3749040" cy="658368"/>
          </a:xfrm>
          <a:prstGeom prst="rect">
            <a:avLst/>
          </a:prstGeom>
          <a:noFill/>
          <a:ln/>
        </p:spPr>
        <p:txBody>
          <a:bodyPr wrap="square" lIns="0" tIns="0" rIns="0" bIns="0" rtlCol="0" anchor="ctr"/>
          <a:lstStyle/>
          <a:p>
            <a:pPr indent="0" marL="0">
              <a:lnSpc>
                <a:spcPct val="110000"/>
              </a:lnSpc>
              <a:buNone/>
            </a:pPr>
            <a:r>
              <a:rPr lang="en-US" sz="1300" dirty="0">
                <a:solidFill>
                  <a:srgbClr val="55545C"/>
                </a:solidFill>
                <a:latin typeface="Calibri" pitchFamily="34" charset="0"/>
                <a:ea typeface="Calibri" pitchFamily="34" charset="-122"/>
                <a:cs typeface="Calibri" pitchFamily="34" charset="-120"/>
              </a:rPr>
              <a:t>PSLE reports wide achievement bands, not exact aggregate scores</a:t>
            </a:r>
            <a:endParaRPr lang="en-US" sz="1300" dirty="0"/>
          </a:p>
        </p:txBody>
      </p:sp>
      <p:sp>
        <p:nvSpPr>
          <p:cNvPr id="14" name="Shape 10"/>
          <p:cNvSpPr/>
          <p:nvPr/>
        </p:nvSpPr>
        <p:spPr>
          <a:xfrm>
            <a:off x="502920" y="2926080"/>
            <a:ext cx="4572000" cy="658368"/>
          </a:xfrm>
          <a:prstGeom prst="roundRect">
            <a:avLst>
              <a:gd name="adj" fmla="val 11111"/>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15" name="Shape 11"/>
          <p:cNvSpPr/>
          <p:nvPr/>
        </p:nvSpPr>
        <p:spPr>
          <a:xfrm>
            <a:off x="685800" y="3072384"/>
            <a:ext cx="365760" cy="365760"/>
          </a:xfrm>
          <a:prstGeom prst="ellipse">
            <a:avLst/>
          </a:prstGeom>
          <a:solidFill>
            <a:srgbClr val="2F3C7E"/>
          </a:solidFill>
          <a:ln w="12700">
            <a:solidFill>
              <a:srgbClr val="2F3C7E"/>
            </a:solidFill>
            <a:prstDash val="solid"/>
          </a:ln>
        </p:spPr>
      </p:sp>
      <p:pic>
        <p:nvPicPr>
          <p:cNvPr id="16" name="Image 2" descr="preencoded.png">    </p:cNvPr>
          <p:cNvPicPr>
            <a:picLocks noChangeAspect="1"/>
          </p:cNvPicPr>
          <p:nvPr/>
        </p:nvPicPr>
        <p:blipFill>
          <a:blip r:embed="rId3"/>
          <a:stretch>
            <a:fillRect/>
          </a:stretch>
        </p:blipFill>
        <p:spPr>
          <a:xfrm>
            <a:off x="788213" y="3174797"/>
            <a:ext cx="160934" cy="160934"/>
          </a:xfrm>
          <a:prstGeom prst="rect">
            <a:avLst/>
          </a:prstGeom>
        </p:spPr>
      </p:pic>
      <p:sp>
        <p:nvSpPr>
          <p:cNvPr id="17" name="Text 12"/>
          <p:cNvSpPr txBox="1"/>
          <p:nvPr/>
        </p:nvSpPr>
        <p:spPr>
          <a:xfrm>
            <a:off x="1161288" y="2926080"/>
            <a:ext cx="3749040" cy="658368"/>
          </a:xfrm>
          <a:prstGeom prst="rect">
            <a:avLst/>
          </a:prstGeom>
          <a:noFill/>
          <a:ln/>
        </p:spPr>
        <p:txBody>
          <a:bodyPr wrap="square" lIns="0" tIns="0" rIns="0" bIns="0" rtlCol="0" anchor="ctr"/>
          <a:lstStyle/>
          <a:p>
            <a:pPr indent="0" marL="0">
              <a:lnSpc>
                <a:spcPct val="110000"/>
              </a:lnSpc>
              <a:buNone/>
            </a:pPr>
            <a:r>
              <a:rPr lang="en-US" sz="1300" dirty="0">
                <a:solidFill>
                  <a:srgbClr val="55545C"/>
                </a:solidFill>
                <a:latin typeface="Calibri" pitchFamily="34" charset="0"/>
                <a:ea typeface="Calibri" pitchFamily="34" charset="-122"/>
                <a:cs typeface="Calibri" pitchFamily="34" charset="-120"/>
              </a:rPr>
              <a:t>Top national scorers are no longer publicised</a:t>
            </a:r>
            <a:endParaRPr lang="en-US" sz="1300" dirty="0"/>
          </a:p>
        </p:txBody>
      </p:sp>
      <p:sp>
        <p:nvSpPr>
          <p:cNvPr id="18" name="Shape 13"/>
          <p:cNvSpPr/>
          <p:nvPr/>
        </p:nvSpPr>
        <p:spPr>
          <a:xfrm>
            <a:off x="5394960" y="1444752"/>
            <a:ext cx="3246120" cy="2057400"/>
          </a:xfrm>
          <a:prstGeom prst="roundRect">
            <a:avLst>
              <a:gd name="adj" fmla="val 3556"/>
            </a:avLst>
          </a:prstGeom>
          <a:solidFill>
            <a:srgbClr val="990011"/>
          </a:solidFill>
          <a:ln w="12700">
            <a:solidFill>
              <a:srgbClr val="990011"/>
            </a:solidFill>
            <a:prstDash val="solid"/>
          </a:ln>
          <a:effectLst>
            <a:outerShdw sx="100000" sy="100000" kx="0" ky="0" algn="bl" rotWithShape="0" blurRad="127000" dist="25400" dir="5400000">
              <a:srgbClr val="8A6A6C">
                <a:alpha val="18000"/>
              </a:srgbClr>
            </a:outerShdw>
          </a:effectLst>
        </p:spPr>
      </p:sp>
      <p:sp>
        <p:nvSpPr>
          <p:cNvPr id="19" name="Text 14"/>
          <p:cNvSpPr txBox="1"/>
          <p:nvPr/>
        </p:nvSpPr>
        <p:spPr>
          <a:xfrm>
            <a:off x="5623560" y="1627632"/>
            <a:ext cx="2788920" cy="237744"/>
          </a:xfrm>
          <a:prstGeom prst="rect">
            <a:avLst/>
          </a:prstGeom>
          <a:noFill/>
          <a:ln/>
        </p:spPr>
        <p:txBody>
          <a:bodyPr wrap="square" lIns="0" tIns="0" rIns="0" bIns="0" rtlCol="0" anchor="ctr"/>
          <a:lstStyle/>
          <a:p>
            <a:pPr indent="0" marL="0">
              <a:buNone/>
            </a:pPr>
            <a:r>
              <a:rPr lang="en-US" sz="1000" b="1" spc="200" kern="0" dirty="0">
                <a:solidFill>
                  <a:srgbClr val="F0D8DA"/>
                </a:solidFill>
                <a:latin typeface="Calibri" pitchFamily="34" charset="0"/>
                <a:ea typeface="Calibri" pitchFamily="34" charset="-122"/>
                <a:cs typeface="Calibri" pitchFamily="34" charset="-120"/>
              </a:rPr>
              <a:t>OVER THE SAME PERIOD</a:t>
            </a:r>
            <a:endParaRPr lang="en-US" sz="1000" dirty="0"/>
          </a:p>
        </p:txBody>
      </p:sp>
      <p:sp>
        <p:nvSpPr>
          <p:cNvPr id="20" name="Text 15"/>
          <p:cNvSpPr txBox="1"/>
          <p:nvPr/>
        </p:nvSpPr>
        <p:spPr>
          <a:xfrm>
            <a:off x="5623560" y="1920240"/>
            <a:ext cx="278892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$1.4B → $1.8B</a:t>
            </a:r>
            <a:endParaRPr lang="en-US" sz="2700" dirty="0"/>
          </a:p>
        </p:txBody>
      </p:sp>
      <p:sp>
        <p:nvSpPr>
          <p:cNvPr id="21" name="Text 16"/>
          <p:cNvSpPr txBox="1"/>
          <p:nvPr/>
        </p:nvSpPr>
        <p:spPr>
          <a:xfrm>
            <a:off x="5623560" y="2560320"/>
            <a:ext cx="2788920" cy="777240"/>
          </a:xfrm>
          <a:prstGeom prst="rect">
            <a:avLst/>
          </a:prstGeom>
          <a:noFill/>
          <a:ln/>
        </p:spPr>
        <p:txBody>
          <a:bodyPr wrap="square" lIns="0" tIns="0" rIns="0" bIns="0" rtlCol="0" anchor="ctr"/>
          <a:lstStyle/>
          <a:p>
            <a:pPr indent="0" marL="0">
              <a:lnSpc>
                <a:spcPct val="115000"/>
              </a:lnSpc>
              <a:buNone/>
            </a:pPr>
            <a:r>
              <a:rPr lang="en-US" sz="1250" dirty="0">
                <a:solidFill>
                  <a:srgbClr val="FBE9EA"/>
                </a:solidFill>
                <a:latin typeface="Calibri" pitchFamily="34" charset="0"/>
                <a:ea typeface="Calibri" pitchFamily="34" charset="-122"/>
                <a:cs typeface="Calibri" pitchFamily="34" charset="-120"/>
              </a:rPr>
              <a:t>Tuition expenditure rose while visible differentiation was being reduced.</a:t>
            </a:r>
            <a:endParaRPr lang="en-US" sz="1250" dirty="0"/>
          </a:p>
        </p:txBody>
      </p:sp>
      <p:sp>
        <p:nvSpPr>
          <p:cNvPr id="22" name="Shape 17"/>
          <p:cNvSpPr/>
          <p:nvPr/>
        </p:nvSpPr>
        <p:spPr>
          <a:xfrm>
            <a:off x="502920" y="3657600"/>
            <a:ext cx="8138160" cy="777240"/>
          </a:xfrm>
          <a:prstGeom prst="roundRect">
            <a:avLst>
              <a:gd name="adj" fmla="val 9412"/>
            </a:avLst>
          </a:prstGeom>
          <a:solidFill>
            <a:srgbClr val="F6E8E9"/>
          </a:solidFill>
          <a:ln w="12700">
            <a:solidFill>
              <a:srgbClr val="EBD3D5"/>
            </a:solidFill>
            <a:prstDash val="solid"/>
          </a:ln>
        </p:spPr>
      </p:sp>
      <p:sp>
        <p:nvSpPr>
          <p:cNvPr id="23" name="Text 18"/>
          <p:cNvSpPr txBox="1"/>
          <p:nvPr/>
        </p:nvSpPr>
        <p:spPr>
          <a:xfrm>
            <a:off x="822960" y="3657600"/>
            <a:ext cx="7498080" cy="777240"/>
          </a:xfrm>
          <a:prstGeom prst="rect">
            <a:avLst/>
          </a:prstGeom>
          <a:noFill/>
          <a:ln/>
        </p:spPr>
        <p:txBody>
          <a:bodyPr wrap="square" lIns="0" tIns="0" rIns="0" bIns="0" rtlCol="0" anchor="ctr"/>
          <a:lstStyle/>
          <a:p>
            <a:pPr indent="0" marL="0">
              <a:buNone/>
            </a:pPr>
            <a:r>
              <a:rPr lang="en-US" sz="1450" b="1" dirty="0">
                <a:solidFill>
                  <a:srgbClr val="2F3C7E"/>
                </a:solidFill>
                <a:latin typeface="Calibri" pitchFamily="34" charset="0"/>
                <a:ea typeface="Calibri" pitchFamily="34" charset="-122"/>
                <a:cs typeface="Calibri" pitchFamily="34" charset="-120"/>
              </a:rPr>
              <a:t>One reading: </a:t>
            </a:r>
            <a:pPr indent="0" marL="0">
              <a:buNone/>
            </a:pPr>
            <a:r>
              <a:rPr lang="en-US" sz="1450" dirty="0">
                <a:solidFill>
                  <a:srgbClr val="2F3C7E"/>
                </a:solidFill>
                <a:latin typeface="Calibri" pitchFamily="34" charset="0"/>
                <a:ea typeface="Calibri" pitchFamily="34" charset="-122"/>
                <a:cs typeface="Calibri" pitchFamily="34" charset="-120"/>
              </a:rPr>
              <a:t>reducing visible differentiation in the system pushes families to secure an advantage privately instead.</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6F5"/>
        </a:solidFill>
      </p:bgPr>
    </p:bg>
    <p:spTree>
      <p:nvGrpSpPr>
        <p:cNvPr id="1" name=""/>
        <p:cNvGrpSpPr/>
        <p:nvPr/>
      </p:nvGrpSpPr>
      <p:grpSpPr>
        <a:xfrm>
          <a:off x="0" y="0"/>
          <a:ext cx="0" cy="0"/>
          <a:chOff x="0" y="0"/>
          <a:chExt cx="0" cy="0"/>
        </a:xfrm>
      </p:grpSpPr>
      <p:sp>
        <p:nvSpPr>
          <p:cNvPr id="2" name="Shape 0"/>
          <p:cNvSpPr/>
          <p:nvPr/>
        </p:nvSpPr>
        <p:spPr>
          <a:xfrm>
            <a:off x="502920" y="822960"/>
            <a:ext cx="3520440" cy="3520440"/>
          </a:xfrm>
          <a:prstGeom prst="roundRect">
            <a:avLst>
              <a:gd name="adj" fmla="val 2078"/>
            </a:avLst>
          </a:prstGeom>
          <a:solidFill>
            <a:srgbClr val="990011"/>
          </a:solidFill>
          <a:ln w="12700">
            <a:solidFill>
              <a:srgbClr val="990011"/>
            </a:solidFill>
            <a:prstDash val="solid"/>
          </a:ln>
          <a:effectLst>
            <a:outerShdw sx="100000" sy="100000" kx="0" ky="0" algn="bl" rotWithShape="0" blurRad="127000" dist="25400" dir="5400000">
              <a:srgbClr val="8A6A6C">
                <a:alpha val="18000"/>
              </a:srgbClr>
            </a:outerShdw>
          </a:effectLst>
        </p:spPr>
      </p:sp>
      <p:sp>
        <p:nvSpPr>
          <p:cNvPr id="3" name="Text 1"/>
          <p:cNvSpPr txBox="1"/>
          <p:nvPr/>
        </p:nvSpPr>
        <p:spPr>
          <a:xfrm>
            <a:off x="822960" y="1234440"/>
            <a:ext cx="2880360" cy="237744"/>
          </a:xfrm>
          <a:prstGeom prst="rect">
            <a:avLst/>
          </a:prstGeom>
          <a:noFill/>
          <a:ln/>
        </p:spPr>
        <p:txBody>
          <a:bodyPr wrap="square" lIns="0" tIns="0" rIns="0" bIns="0" rtlCol="0" anchor="ctr"/>
          <a:lstStyle/>
          <a:p>
            <a:pPr indent="0" marL="0">
              <a:buNone/>
            </a:pPr>
            <a:r>
              <a:rPr lang="en-US" sz="1050" b="1" spc="260" kern="0" dirty="0">
                <a:solidFill>
                  <a:srgbClr val="F0D8DA"/>
                </a:solidFill>
                <a:latin typeface="Calibri" pitchFamily="34" charset="0"/>
                <a:ea typeface="Calibri" pitchFamily="34" charset="-122"/>
                <a:cs typeface="Calibri" pitchFamily="34" charset="-120"/>
              </a:rPr>
              <a:t>WHAT IT COSTS</a:t>
            </a:r>
            <a:endParaRPr lang="en-US" sz="1050" dirty="0"/>
          </a:p>
        </p:txBody>
      </p:sp>
      <p:sp>
        <p:nvSpPr>
          <p:cNvPr id="4" name="Text 2"/>
          <p:cNvSpPr txBox="1"/>
          <p:nvPr/>
        </p:nvSpPr>
        <p:spPr>
          <a:xfrm>
            <a:off x="822960" y="1600200"/>
            <a:ext cx="2880360" cy="1737360"/>
          </a:xfrm>
          <a:prstGeom prst="rect">
            <a:avLst/>
          </a:prstGeom>
          <a:noFill/>
          <a:ln/>
        </p:spPr>
        <p:txBody>
          <a:bodyPr wrap="square" lIns="0" tIns="0" rIns="0" bIns="0" rtlCol="0" anchor="t"/>
          <a:lstStyle/>
          <a:p>
            <a:pPr indent="0" marL="0">
              <a:lnSpc>
                <a:spcPct val="105000"/>
              </a:lnSpc>
              <a:buNone/>
            </a:pPr>
            <a:r>
              <a:rPr lang="en-US" sz="2600" b="1" dirty="0">
                <a:solidFill>
                  <a:srgbClr val="FFFFFF"/>
                </a:solidFill>
                <a:latin typeface="Cambria" pitchFamily="34" charset="0"/>
                <a:ea typeface="Cambria" pitchFamily="34" charset="-122"/>
                <a:cs typeface="Cambria" pitchFamily="34" charset="-120"/>
              </a:rPr>
              <a:t>The trade-off is mainly one of time, not outcomes.</a:t>
            </a:r>
            <a:endParaRPr lang="en-US" sz="2600" dirty="0"/>
          </a:p>
        </p:txBody>
      </p:sp>
      <p:sp>
        <p:nvSpPr>
          <p:cNvPr id="5" name="Text 3"/>
          <p:cNvSpPr txBox="1"/>
          <p:nvPr/>
        </p:nvSpPr>
        <p:spPr>
          <a:xfrm>
            <a:off x="822960" y="3493008"/>
            <a:ext cx="2880360" cy="621792"/>
          </a:xfrm>
          <a:prstGeom prst="rect">
            <a:avLst/>
          </a:prstGeom>
          <a:noFill/>
          <a:ln/>
        </p:spPr>
        <p:txBody>
          <a:bodyPr wrap="square" lIns="0" tIns="0" rIns="0" bIns="0" rtlCol="0" anchor="t"/>
          <a:lstStyle/>
          <a:p>
            <a:pPr indent="0" marL="0">
              <a:lnSpc>
                <a:spcPct val="115000"/>
              </a:lnSpc>
              <a:buNone/>
            </a:pPr>
            <a:r>
              <a:rPr lang="en-US" sz="1350" i="1" dirty="0">
                <a:solidFill>
                  <a:srgbClr val="F0D8DA"/>
                </a:solidFill>
                <a:latin typeface="Calibri" pitchFamily="34" charset="0"/>
                <a:ea typeface="Calibri" pitchFamily="34" charset="-122"/>
                <a:cs typeface="Calibri" pitchFamily="34" charset="-120"/>
              </a:rPr>
              <a:t>Attainment is not what is being paid for. The hours are.</a:t>
            </a:r>
            <a:endParaRPr lang="en-US" sz="1350" dirty="0"/>
          </a:p>
        </p:txBody>
      </p:sp>
      <p:sp>
        <p:nvSpPr>
          <p:cNvPr id="6" name="Shape 4"/>
          <p:cNvSpPr/>
          <p:nvPr/>
        </p:nvSpPr>
        <p:spPr>
          <a:xfrm>
            <a:off x="4434840" y="822960"/>
            <a:ext cx="4206240" cy="1051560"/>
          </a:xfrm>
          <a:prstGeom prst="roundRect">
            <a:avLst>
              <a:gd name="adj" fmla="val 6957"/>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7" name="Shape 5"/>
          <p:cNvSpPr/>
          <p:nvPr/>
        </p:nvSpPr>
        <p:spPr>
          <a:xfrm>
            <a:off x="4663440" y="1115568"/>
            <a:ext cx="457200" cy="457200"/>
          </a:xfrm>
          <a:prstGeom prst="ellipse">
            <a:avLst/>
          </a:prstGeom>
          <a:solidFill>
            <a:srgbClr val="990011"/>
          </a:solidFill>
          <a:ln w="12700">
            <a:solidFill>
              <a:srgbClr val="990011"/>
            </a:solidFill>
            <a:prstDash val="solid"/>
          </a:ln>
        </p:spPr>
      </p:sp>
      <p:pic>
        <p:nvPicPr>
          <p:cNvPr id="8" name="Image 0" descr="preencoded.png">    </p:cNvPr>
          <p:cNvPicPr>
            <a:picLocks noChangeAspect="1"/>
          </p:cNvPicPr>
          <p:nvPr/>
        </p:nvPicPr>
        <p:blipFill>
          <a:blip r:embed="rId1"/>
          <a:stretch>
            <a:fillRect/>
          </a:stretch>
        </p:blipFill>
        <p:spPr>
          <a:xfrm>
            <a:off x="4791456" y="1243584"/>
            <a:ext cx="201168" cy="201168"/>
          </a:xfrm>
          <a:prstGeom prst="rect">
            <a:avLst/>
          </a:prstGeom>
        </p:spPr>
      </p:pic>
      <p:sp>
        <p:nvSpPr>
          <p:cNvPr id="9" name="Text 6"/>
          <p:cNvSpPr txBox="1"/>
          <p:nvPr/>
        </p:nvSpPr>
        <p:spPr>
          <a:xfrm>
            <a:off x="5285232" y="1005840"/>
            <a:ext cx="3154680" cy="292608"/>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Attainment is high</a:t>
            </a:r>
            <a:endParaRPr lang="en-US" sz="1600" dirty="0"/>
          </a:p>
        </p:txBody>
      </p:sp>
      <p:sp>
        <p:nvSpPr>
          <p:cNvPr id="10" name="Text 7"/>
          <p:cNvSpPr txBox="1"/>
          <p:nvPr/>
        </p:nvSpPr>
        <p:spPr>
          <a:xfrm>
            <a:off x="5285232" y="1316736"/>
            <a:ext cx="3154680" cy="411480"/>
          </a:xfrm>
          <a:prstGeom prst="rect">
            <a:avLst/>
          </a:prstGeom>
          <a:noFill/>
          <a:ln/>
        </p:spPr>
        <p:txBody>
          <a:bodyPr wrap="square" lIns="0" tIns="0" rIns="0" bIns="0" rtlCol="0" anchor="ctr"/>
          <a:lstStyle/>
          <a:p>
            <a:pPr indent="0" marL="0">
              <a:lnSpc>
                <a:spcPct val="110000"/>
              </a:lnSpc>
              <a:buNone/>
            </a:pPr>
            <a:r>
              <a:rPr lang="en-US" sz="1250" dirty="0">
                <a:solidFill>
                  <a:srgbClr val="55545C"/>
                </a:solidFill>
                <a:latin typeface="Calibri" pitchFamily="34" charset="0"/>
                <a:ea typeface="Calibri" pitchFamily="34" charset="-122"/>
                <a:cs typeface="Calibri" pitchFamily="34" charset="-120"/>
              </a:rPr>
              <a:t>System-level results are not the problem being described.</a:t>
            </a:r>
            <a:endParaRPr lang="en-US" sz="1250" dirty="0"/>
          </a:p>
        </p:txBody>
      </p:sp>
      <p:sp>
        <p:nvSpPr>
          <p:cNvPr id="11" name="Shape 8"/>
          <p:cNvSpPr/>
          <p:nvPr/>
        </p:nvSpPr>
        <p:spPr>
          <a:xfrm>
            <a:off x="4434840" y="2057400"/>
            <a:ext cx="4206240" cy="1051560"/>
          </a:xfrm>
          <a:prstGeom prst="roundRect">
            <a:avLst>
              <a:gd name="adj" fmla="val 6957"/>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12" name="Shape 9"/>
          <p:cNvSpPr/>
          <p:nvPr/>
        </p:nvSpPr>
        <p:spPr>
          <a:xfrm>
            <a:off x="4663440" y="2350008"/>
            <a:ext cx="457200" cy="457200"/>
          </a:xfrm>
          <a:prstGeom prst="ellipse">
            <a:avLst/>
          </a:prstGeom>
          <a:solidFill>
            <a:srgbClr val="990011"/>
          </a:solidFill>
          <a:ln w="12700">
            <a:solidFill>
              <a:srgbClr val="990011"/>
            </a:solidFill>
            <a:prstDash val="solid"/>
          </a:ln>
        </p:spPr>
      </p:sp>
      <p:pic>
        <p:nvPicPr>
          <p:cNvPr id="13" name="Image 1" descr="preencoded.png">    </p:cNvPr>
          <p:cNvPicPr>
            <a:picLocks noChangeAspect="1"/>
          </p:cNvPicPr>
          <p:nvPr/>
        </p:nvPicPr>
        <p:blipFill>
          <a:blip r:embed="rId2"/>
          <a:stretch>
            <a:fillRect/>
          </a:stretch>
        </p:blipFill>
        <p:spPr>
          <a:xfrm>
            <a:off x="4791456" y="2478024"/>
            <a:ext cx="201168" cy="201168"/>
          </a:xfrm>
          <a:prstGeom prst="rect">
            <a:avLst/>
          </a:prstGeom>
        </p:spPr>
      </p:pic>
      <p:sp>
        <p:nvSpPr>
          <p:cNvPr id="14" name="Text 10"/>
          <p:cNvSpPr txBox="1"/>
          <p:nvPr/>
        </p:nvSpPr>
        <p:spPr>
          <a:xfrm>
            <a:off x="5285232" y="2240280"/>
            <a:ext cx="3154680" cy="292608"/>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Hours are committed</a:t>
            </a:r>
            <a:endParaRPr lang="en-US" sz="1600" dirty="0"/>
          </a:p>
        </p:txBody>
      </p:sp>
      <p:sp>
        <p:nvSpPr>
          <p:cNvPr id="15" name="Text 11"/>
          <p:cNvSpPr txBox="1"/>
          <p:nvPr/>
        </p:nvSpPr>
        <p:spPr>
          <a:xfrm>
            <a:off x="5285232" y="2551176"/>
            <a:ext cx="3154680" cy="411480"/>
          </a:xfrm>
          <a:prstGeom prst="rect">
            <a:avLst/>
          </a:prstGeom>
          <a:noFill/>
          <a:ln/>
        </p:spPr>
        <p:txBody>
          <a:bodyPr wrap="square" lIns="0" tIns="0" rIns="0" bIns="0" rtlCol="0" anchor="ctr"/>
          <a:lstStyle/>
          <a:p>
            <a:pPr indent="0" marL="0">
              <a:lnSpc>
                <a:spcPct val="110000"/>
              </a:lnSpc>
              <a:buNone/>
            </a:pPr>
            <a:r>
              <a:rPr lang="en-US" sz="1250" dirty="0">
                <a:solidFill>
                  <a:srgbClr val="55545C"/>
                </a:solidFill>
                <a:latin typeface="Calibri" pitchFamily="34" charset="0"/>
                <a:ea typeface="Calibri" pitchFamily="34" charset="-122"/>
                <a:cs typeface="Calibri" pitchFamily="34" charset="-120"/>
              </a:rPr>
              <a:t>Out-of-school time is heavily allocated to further instruction.</a:t>
            </a:r>
            <a:endParaRPr lang="en-US" sz="1250" dirty="0"/>
          </a:p>
        </p:txBody>
      </p:sp>
      <p:sp>
        <p:nvSpPr>
          <p:cNvPr id="16" name="Shape 12"/>
          <p:cNvSpPr/>
          <p:nvPr/>
        </p:nvSpPr>
        <p:spPr>
          <a:xfrm>
            <a:off x="4434840" y="3291840"/>
            <a:ext cx="4206240" cy="1051560"/>
          </a:xfrm>
          <a:prstGeom prst="roundRect">
            <a:avLst>
              <a:gd name="adj" fmla="val 6957"/>
            </a:avLst>
          </a:prstGeom>
          <a:solidFill>
            <a:srgbClr val="FFFFFF"/>
          </a:solidFill>
          <a:ln w="12700">
            <a:solidFill>
              <a:srgbClr val="EFE2E2"/>
            </a:solidFill>
            <a:prstDash val="solid"/>
          </a:ln>
          <a:effectLst>
            <a:outerShdw sx="100000" sy="100000" kx="0" ky="0" algn="bl" rotWithShape="0" blurRad="127000" dist="25400" dir="5400000">
              <a:srgbClr val="8A6A6C">
                <a:alpha val="18000"/>
              </a:srgbClr>
            </a:outerShdw>
          </a:effectLst>
        </p:spPr>
      </p:sp>
      <p:sp>
        <p:nvSpPr>
          <p:cNvPr id="17" name="Shape 13"/>
          <p:cNvSpPr/>
          <p:nvPr/>
        </p:nvSpPr>
        <p:spPr>
          <a:xfrm>
            <a:off x="4663440" y="3584448"/>
            <a:ext cx="457200" cy="457200"/>
          </a:xfrm>
          <a:prstGeom prst="ellipse">
            <a:avLst/>
          </a:prstGeom>
          <a:solidFill>
            <a:srgbClr val="990011"/>
          </a:solidFill>
          <a:ln w="12700">
            <a:solidFill>
              <a:srgbClr val="990011"/>
            </a:solidFill>
            <a:prstDash val="solid"/>
          </a:ln>
        </p:spPr>
      </p:sp>
      <p:pic>
        <p:nvPicPr>
          <p:cNvPr id="18" name="Image 2" descr="preencoded.png">    </p:cNvPr>
          <p:cNvPicPr>
            <a:picLocks noChangeAspect="1"/>
          </p:cNvPicPr>
          <p:nvPr/>
        </p:nvPicPr>
        <p:blipFill>
          <a:blip r:embed="rId3"/>
          <a:stretch>
            <a:fillRect/>
          </a:stretch>
        </p:blipFill>
        <p:spPr>
          <a:xfrm>
            <a:off x="4791456" y="3712464"/>
            <a:ext cx="201168" cy="201168"/>
          </a:xfrm>
          <a:prstGeom prst="rect">
            <a:avLst/>
          </a:prstGeom>
        </p:spPr>
      </p:pic>
      <p:sp>
        <p:nvSpPr>
          <p:cNvPr id="19" name="Text 14"/>
          <p:cNvSpPr txBox="1"/>
          <p:nvPr/>
        </p:nvSpPr>
        <p:spPr>
          <a:xfrm>
            <a:off x="5285232" y="3474720"/>
            <a:ext cx="3154680" cy="292608"/>
          </a:xfrm>
          <a:prstGeom prst="rect">
            <a:avLst/>
          </a:prstGeom>
          <a:noFill/>
          <a:ln/>
        </p:spPr>
        <p:txBody>
          <a:bodyPr wrap="square" lIns="0" tIns="0" rIns="0" bIns="0" rtlCol="0" anchor="ctr"/>
          <a:lstStyle/>
          <a:p>
            <a:pPr indent="0" marL="0">
              <a:buNone/>
            </a:pPr>
            <a:r>
              <a:rPr lang="en-US" sz="1600" b="1" dirty="0">
                <a:solidFill>
                  <a:srgbClr val="2F3C7E"/>
                </a:solidFill>
                <a:latin typeface="Cambria" pitchFamily="34" charset="0"/>
                <a:ea typeface="Cambria" pitchFamily="34" charset="-122"/>
                <a:cs typeface="Cambria" pitchFamily="34" charset="-120"/>
              </a:rPr>
              <a:t>Ranking arrives early</a:t>
            </a:r>
            <a:endParaRPr lang="en-US" sz="1600" dirty="0"/>
          </a:p>
        </p:txBody>
      </p:sp>
      <p:sp>
        <p:nvSpPr>
          <p:cNvPr id="20" name="Text 15"/>
          <p:cNvSpPr txBox="1"/>
          <p:nvPr/>
        </p:nvSpPr>
        <p:spPr>
          <a:xfrm>
            <a:off x="5285232" y="3785616"/>
            <a:ext cx="3154680" cy="411480"/>
          </a:xfrm>
          <a:prstGeom prst="rect">
            <a:avLst/>
          </a:prstGeom>
          <a:noFill/>
          <a:ln/>
        </p:spPr>
        <p:txBody>
          <a:bodyPr wrap="square" lIns="0" tIns="0" rIns="0" bIns="0" rtlCol="0" anchor="ctr"/>
          <a:lstStyle/>
          <a:p>
            <a:pPr indent="0" marL="0">
              <a:lnSpc>
                <a:spcPct val="110000"/>
              </a:lnSpc>
              <a:buNone/>
            </a:pPr>
            <a:r>
              <a:rPr lang="en-US" sz="1250" dirty="0">
                <a:solidFill>
                  <a:srgbClr val="55545C"/>
                </a:solidFill>
                <a:latin typeface="Calibri" pitchFamily="34" charset="0"/>
                <a:ea typeface="Calibri" pitchFamily="34" charset="-122"/>
                <a:cs typeface="Calibri" pitchFamily="34" charset="-120"/>
              </a:rPr>
              <a:t>Students encounter academic ranking at a young age.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1188720" y="2286000"/>
            <a:ext cx="3840480" cy="3840480"/>
          </a:xfrm>
          <a:prstGeom prst="ellipse">
            <a:avLst/>
          </a:prstGeom>
          <a:solidFill>
            <a:srgbClr val="FFFFFF">
              <a:alpha val="6000"/>
            </a:srgbClr>
          </a:solidFill>
          <a:ln/>
        </p:spPr>
      </p:sp>
      <p:sp>
        <p:nvSpPr>
          <p:cNvPr id="3" name="Shape 1"/>
          <p:cNvSpPr/>
          <p:nvPr/>
        </p:nvSpPr>
        <p:spPr>
          <a:xfrm>
            <a:off x="6949440" y="-1280160"/>
            <a:ext cx="3291840" cy="3291840"/>
          </a:xfrm>
          <a:prstGeom prst="ellipse">
            <a:avLst/>
          </a:prstGeom>
          <a:solidFill>
            <a:srgbClr val="FFFFFF">
              <a:alpha val="7000"/>
            </a:srgbClr>
          </a:solidFill>
          <a:ln/>
        </p:spPr>
      </p:sp>
      <p:sp>
        <p:nvSpPr>
          <p:cNvPr id="4" name="Text 2"/>
          <p:cNvSpPr txBox="1"/>
          <p:nvPr/>
        </p:nvSpPr>
        <p:spPr>
          <a:xfrm>
            <a:off x="502920" y="868680"/>
            <a:ext cx="4572000" cy="237744"/>
          </a:xfrm>
          <a:prstGeom prst="rect">
            <a:avLst/>
          </a:prstGeom>
          <a:noFill/>
          <a:ln/>
        </p:spPr>
        <p:txBody>
          <a:bodyPr wrap="square" lIns="0" tIns="0" rIns="0" bIns="0" rtlCol="0" anchor="ctr"/>
          <a:lstStyle/>
          <a:p>
            <a:pPr indent="0" marL="0">
              <a:buNone/>
            </a:pPr>
            <a:r>
              <a:rPr lang="en-US" sz="1050" b="1" spc="260" kern="0" dirty="0">
                <a:solidFill>
                  <a:srgbClr val="C2CBEE"/>
                </a:solidFill>
                <a:latin typeface="Calibri" pitchFamily="34" charset="0"/>
                <a:ea typeface="Calibri" pitchFamily="34" charset="-122"/>
                <a:cs typeface="Calibri" pitchFamily="34" charset="-120"/>
              </a:rPr>
              <a:t>THE OPEN QUESTION</a:t>
            </a:r>
            <a:endParaRPr lang="en-US" sz="1050" dirty="0"/>
          </a:p>
        </p:txBody>
      </p:sp>
      <p:sp>
        <p:nvSpPr>
          <p:cNvPr id="5" name="Text 3"/>
          <p:cNvSpPr txBox="1"/>
          <p:nvPr/>
        </p:nvSpPr>
        <p:spPr>
          <a:xfrm>
            <a:off x="502920" y="1234440"/>
            <a:ext cx="6949440" cy="137160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What keeps this dynamic from forming elsewhere?</a:t>
            </a:r>
            <a:endParaRPr lang="en-US" sz="3400" dirty="0"/>
          </a:p>
        </p:txBody>
      </p:sp>
      <p:sp>
        <p:nvSpPr>
          <p:cNvPr id="6" name="Shape 4"/>
          <p:cNvSpPr/>
          <p:nvPr/>
        </p:nvSpPr>
        <p:spPr>
          <a:xfrm>
            <a:off x="502920" y="2788920"/>
            <a:ext cx="6675120" cy="960120"/>
          </a:xfrm>
          <a:prstGeom prst="roundRect">
            <a:avLst>
              <a:gd name="adj" fmla="val 7619"/>
            </a:avLst>
          </a:prstGeom>
          <a:solidFill>
            <a:srgbClr val="3F4C92"/>
          </a:solidFill>
          <a:ln w="12700">
            <a:solidFill>
              <a:srgbClr val="56629F"/>
            </a:solidFill>
            <a:prstDash val="solid"/>
          </a:ln>
        </p:spPr>
      </p:sp>
      <p:sp>
        <p:nvSpPr>
          <p:cNvPr id="7" name="Text 5"/>
          <p:cNvSpPr txBox="1"/>
          <p:nvPr/>
        </p:nvSpPr>
        <p:spPr>
          <a:xfrm>
            <a:off x="822960" y="2788920"/>
            <a:ext cx="6035040" cy="960120"/>
          </a:xfrm>
          <a:prstGeom prst="rect">
            <a:avLst/>
          </a:prstGeom>
          <a:noFill/>
          <a:ln/>
        </p:spPr>
        <p:txBody>
          <a:bodyPr wrap="square" lIns="0" tIns="0" rIns="0" bIns="0" rtlCol="0" anchor="ctr"/>
          <a:lstStyle/>
          <a:p>
            <a:pPr indent="0" marL="0">
              <a:lnSpc>
                <a:spcPct val="115000"/>
              </a:lnSpc>
              <a:buNone/>
            </a:pPr>
            <a:r>
              <a:rPr lang="en-US" sz="1550" dirty="0">
                <a:solidFill>
                  <a:srgbClr val="EAEEFB"/>
                </a:solidFill>
                <a:latin typeface="Calibri" pitchFamily="34" charset="0"/>
                <a:ea typeface="Calibri" pitchFamily="34" charset="-122"/>
                <a:cs typeface="Calibri" pitchFamily="34" charset="-120"/>
              </a:rPr>
              <a:t>The answer appears to lie less in examination design than in parental expectations.</a:t>
            </a:r>
            <a:endParaRPr lang="en-US" sz="1550" dirty="0"/>
          </a:p>
        </p:txBody>
      </p:sp>
      <p:sp>
        <p:nvSpPr>
          <p:cNvPr id="8" name="Text 6"/>
          <p:cNvSpPr txBox="1"/>
          <p:nvPr/>
        </p:nvSpPr>
        <p:spPr>
          <a:xfrm>
            <a:off x="502920" y="3977640"/>
            <a:ext cx="6675120" cy="320040"/>
          </a:xfrm>
          <a:prstGeom prst="rect">
            <a:avLst/>
          </a:prstGeom>
          <a:noFill/>
          <a:ln/>
        </p:spPr>
        <p:txBody>
          <a:bodyPr wrap="square" lIns="0" tIns="0" rIns="0" bIns="0" rtlCol="0" anchor="ctr"/>
          <a:lstStyle/>
          <a:p>
            <a:pPr indent="0" marL="0">
              <a:buNone/>
            </a:pPr>
            <a:r>
              <a:rPr lang="en-US" sz="1250" i="1" dirty="0">
                <a:solidFill>
                  <a:srgbClr val="AEB8E4"/>
                </a:solidFill>
                <a:latin typeface="Calibri" pitchFamily="34" charset="0"/>
                <a:ea typeface="Calibri" pitchFamily="34" charset="-122"/>
                <a:cs typeface="Calibri" pitchFamily="34" charset="-120"/>
              </a:rPr>
              <a:t>This is the comparison worth making across systems.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Singapore's Tuition Culture</dc:title>
  <dc:subject>PptxGenJS Presentation</dc:subject>
  <dc:creator>Briefing deck</dc:creator>
  <cp:lastModifiedBy>Briefing deck</cp:lastModifiedBy>
  <cp:revision>1</cp:revision>
  <dcterms:created xsi:type="dcterms:W3CDTF">2026-09-13T02:35:58Z</dcterms:created>
  <dcterms:modified xsi:type="dcterms:W3CDTF">2026-09-13T02:35:58Z</dcterms:modified>
</cp:coreProperties>
</file>